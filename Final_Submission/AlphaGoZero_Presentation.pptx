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5e61d87-6b28-82fa-629e-74bc456159e3}">
          <p14:sldIdLst>
            <p14:sldId id="256"/>
            <p14:sldId id="257"/>
          </p14:sldIdLst>
        </p14:section>
        <p14:section name="The research paper" id="{6960c5f5-e950-d3c5-b66e-c37497c84bbc}">
          <p14:sldIdLst>
            <p14:sldId id="258"/>
            <p14:sldId id="259"/>
          </p14:sldIdLst>
        </p14:section>
        <p14:section name="Algorithms" id="{0653cc9c-4ee4-f3c7-9ebf-11e42f36ea94}">
          <p14:sldIdLst>
            <p14:sldId id="260"/>
            <p14:sldId id="261"/>
            <p14:sldId id="262"/>
            <p14:sldId id="263"/>
            <p14:sldId id="264"/>
            <p14:sldId id="265"/>
            <p14:sldId id="266"/>
          </p14:sldIdLst>
        </p14:section>
        <p14:section name="Results" id="{01ccb9f0-feff-763c-f77a-ef7e6beedbcb}">
          <p14:sldIdLst>
            <p14:sldId id="267"/>
            <p14:sldId id="268"/>
            <p14:sldId id="269"/>
            <p14:sldId id="270"/>
          </p14:sldIdLst>
        </p14:section>
        <p14:section name="Engineering" id="{3e05ab75-a133-580c-18db-1628cba2cdb0}">
          <p14:sldIdLst>
            <p14:sldId id="271"/>
            <p14:sldId id="272"/>
            <p14:sldId id="273"/>
          </p14:sldIdLst>
        </p14:section>
        <p14:section name="Conclusion" id="{8b20393e-4287-c1cf-76cc-bf198a044130}">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4"/>
                </a:solidFill>
                <a:latin typeface="Calibri"/>
              </a:defRPr>
            </a:pPr>
            <a:r>
              <a:rPr sz="1600" b="0" i="0" u="none" strike="noStrike">
                <a:solidFill>
                  <a:srgbClr val="1B1F24"/>
                </a:solidFill>
                <a:latin typeface="Calibri"/>
              </a:rPr>
              <a:t>Candidate win rate vs. current best (%)</a:t>
            </a:r>
          </a:p>
        </c:rich>
      </c:tx>
      <c:layout/>
      <c:overlay val="0"/>
    </c:title>
    <c:autoTitleDeleted val="0"/>
    <c:plotArea>
      <c:layout/>
      <c:barChart>
        <c:barDir val="col"/>
        <c:grouping val="clustered"/>
        <c:varyColors val="0"/>
        <c:ser>
          <c:idx val="0"/>
          <c:order val="0"/>
          <c:tx>
            <c:strRef>
              <c:f>Sheet1!$B$1</c:f>
              <c:strCache>
                <c:ptCount val="1"/>
                <c:pt idx="0">
                  <c:v>Win rate</c:v>
                </c:pt>
              </c:strCache>
            </c:strRef>
          </c:tx>
          <c:spPr>
            <a:solidFill>
              <a:srgbClr val="1F3A5F"/>
            </a:solidFill>
            <a:effectLst/>
          </c:spPr>
          <c:invertIfNegative val="0"/>
          <c:dLbls>
            <c:numFmt formatCode="0.0" sourceLinked="0"/>
            <c:txPr>
              <a:bodyPr/>
              <a:lstStyle/>
              <a:p>
                <a:pPr>
                  <a:defRPr b="0" i="0" strike="noStrike" sz="1300" u="none">
                    <a:solidFill>
                      <a:srgbClr val="1B1F24"/>
                    </a:solidFill>
                    <a:latin typeface="Calibri"/>
                  </a:defRPr>
                </a:pPr>
              </a:p>
            </c:txPr>
            <c:showLegendKey val="0"/>
            <c:showVal val="1"/>
            <c:showCatName val="0"/>
            <c:showSerName val="0"/>
            <c:showPercent val="0"/>
            <c:showBubbleSize val="0"/>
            <c:showLeaderLines val="0"/>
          </c:dLbls>
          <c:cat>
            <c:multiLvlStrRef>
              <c:f>Sheet1!$A$2:$A$9</c:f>
              <c:multiLvlStrCache>
                <c:ptCount val="8"/>
                <c:lvl>
                  <c:pt idx="0">
                    <c:v>Iter 3</c:v>
                  </c:pt>
                  <c:pt idx="1">
                    <c:v>Iter 4</c:v>
                  </c:pt>
                  <c:pt idx="2">
                    <c:v>Iter 5</c:v>
                  </c:pt>
                  <c:pt idx="3">
                    <c:v>Iter 6</c:v>
                  </c:pt>
                  <c:pt idx="4">
                    <c:v>Iter 7</c:v>
                  </c:pt>
                  <c:pt idx="5">
                    <c:v>Iter 8</c:v>
                  </c:pt>
                  <c:pt idx="6">
                    <c:v>Iter 9</c:v>
                  </c:pt>
                  <c:pt idx="7">
                    <c:v>Iter 10</c:v>
                  </c:pt>
                </c:lvl>
              </c:multiLvlStrCache>
            </c:multiLvlStrRef>
          </c:cat>
          <c:val>
            <c:numRef>
              <c:f>Sheet1!$B$2:$B$9</c:f>
              <c:numCache>
                <c:formatCode>General</c:formatCode>
                <c:ptCount val="8"/>
                <c:pt idx="0">
                  <c:v>30</c:v>
                </c:pt>
                <c:pt idx="1">
                  <c:v>70</c:v>
                </c:pt>
                <c:pt idx="2">
                  <c:v>45</c:v>
                </c:pt>
                <c:pt idx="3">
                  <c:v>50</c:v>
                </c:pt>
                <c:pt idx="4">
                  <c:v>55</c:v>
                </c:pt>
                <c:pt idx="5">
                  <c:v>52.5</c:v>
                </c:pt>
                <c:pt idx="6">
                  <c:v>72.5</c:v>
                </c:pt>
                <c:pt idx="7">
                  <c:v>50</c:v>
                </c:pt>
              </c:numCache>
            </c:numRef>
          </c:val>
        </c:ser>
        <c:dLbls>
          <c:numFmt formatCode="0.0" sourceLinked="0"/>
          <c:txPr>
            <a:bodyPr/>
            <a:lstStyle/>
            <a:p>
              <a:pPr>
                <a:defRPr b="0" i="0" strike="noStrike" sz="1300" u="none">
                  <a:solidFill>
                    <a:srgbClr val="1B1F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4"/>
                </a:solidFill>
                <a:latin typeface="Calibri"/>
              </a:defRPr>
            </a:pPr>
            <a:r>
              <a:rPr sz="1600" b="0" i="0" u="none" strike="noStrike">
                <a:solidFill>
                  <a:srgbClr val="1B1F24"/>
                </a:solidFill>
                <a:latin typeface="Calibri"/>
              </a:rPr>
              <a:t>Final total loss by iteration</a:t>
            </a:r>
          </a:p>
        </c:rich>
      </c:tx>
      <c:layout/>
      <c:overlay val="0"/>
    </c:title>
    <c:autoTitleDeleted val="0"/>
    <c:plotArea>
      <c:layout/>
      <c:lineChart>
        <c:varyColors val="0"/>
        <c:ser>
          <c:idx val="0"/>
          <c:order val="0"/>
          <c:tx>
            <c:strRef>
              <c:f>Sheet1!$B$1</c:f>
              <c:strCache>
                <c:ptCount val="1"/>
                <c:pt idx="0">
                  <c:v>Final training loss</c:v>
                </c:pt>
              </c:strCache>
            </c:strRef>
          </c:tx>
          <c:spPr>
            <a:solidFill>
              <a:srgbClr val="C8862A"/>
            </a:solidFill>
            <a:ln w="38100" cap="flat">
              <a:solidFill>
                <a:srgbClr val="C8862A"/>
              </a:solidFill>
              <a:prstDash val="solid"/>
              <a:round/>
            </a:ln>
            <a:effectLst/>
          </c:spPr>
          <c:invertIfNegative val="0"/>
          <c:dLbls>
            <c:numFmt formatCode="0.00" sourceLinked="0"/>
            <c:txPr>
              <a:bodyPr/>
              <a:lstStyle/>
              <a:p>
                <a:pPr>
                  <a:defRPr b="0" i="0" strike="noStrike" sz="1200" u="none">
                    <a:solidFill>
                      <a:srgbClr val="1B1F24"/>
                    </a:solidFill>
                    <a:latin typeface="Calibri"/>
                  </a:defRPr>
                </a:pPr>
              </a:p>
            </c:txPr>
            <c:dLblPos val="t"/>
            <c:showLegendKey val="0"/>
            <c:showVal val="1"/>
            <c:showCatName val="0"/>
            <c:showSerName val="0"/>
            <c:showPercent val="0"/>
            <c:showBubbleSize val="0"/>
            <c:showLeaderLines val="0"/>
          </c:dLbls>
          <c:marker>
            <c:symbol val="circle"/>
            <c:size val="9"/>
            <c:spPr>
              <a:solidFill>
                <a:srgbClr val="C8862A"/>
              </a:solidFill>
              <a:ln w="9525" cap="flat">
                <a:solidFill>
                  <a:srgbClr val="C8862A"/>
                </a:solidFill>
                <a:prstDash val="solid"/>
                <a:round/>
              </a:ln>
              <a:effectLst/>
            </c:spPr>
          </c:marker>
          <c:cat>
            <c:multiLvlStrRef>
              <c:f>Sheet1!$A$2:$A$9</c:f>
              <c:multiLvlStrCache>
                <c:ptCount val="8"/>
                <c:lvl>
                  <c:pt idx="0">
                    <c:v>3</c:v>
                  </c:pt>
                  <c:pt idx="1">
                    <c:v>4</c:v>
                  </c:pt>
                  <c:pt idx="2">
                    <c:v>5</c:v>
                  </c:pt>
                  <c:pt idx="3">
                    <c:v>6</c:v>
                  </c:pt>
                  <c:pt idx="4">
                    <c:v>7</c:v>
                  </c:pt>
                  <c:pt idx="5">
                    <c:v>8</c:v>
                  </c:pt>
                  <c:pt idx="6">
                    <c:v>9</c:v>
                  </c:pt>
                  <c:pt idx="7">
                    <c:v>10</c:v>
                  </c:pt>
                </c:lvl>
              </c:multiLvlStrCache>
            </c:multiLvlStrRef>
          </c:cat>
          <c:val>
            <c:numRef>
              <c:f>Sheet1!$B$2:$B$9</c:f>
              <c:numCache>
                <c:formatCode>General</c:formatCode>
                <c:ptCount val="8"/>
                <c:pt idx="0">
                  <c:v>4.83</c:v>
                </c:pt>
                <c:pt idx="1">
                  <c:v>4.25</c:v>
                </c:pt>
                <c:pt idx="2">
                  <c:v>3.66</c:v>
                </c:pt>
                <c:pt idx="3">
                  <c:v>3.36</c:v>
                </c:pt>
                <c:pt idx="4">
                  <c:v>3.39</c:v>
                </c:pt>
                <c:pt idx="5">
                  <c:v>3.34</c:v>
                </c:pt>
                <c:pt idx="6">
                  <c:v>3.27</c:v>
                </c:pt>
                <c:pt idx="7">
                  <c:v>3.29</c:v>
                </c:pt>
              </c:numCache>
            </c:numRef>
          </c:val>
          <c:smooth val="0"/>
        </c:ser>
        <c:dLbls>
          <c:numFmt formatCode="0.00" sourceLinked="0"/>
          <c:txPr>
            <a:bodyPr/>
            <a:lstStyle/>
            <a:p>
              <a:pPr>
                <a:defRPr b="0" i="0" strike="noStrike" sz="1200" u="none">
                  <a:solidFill>
                    <a:srgbClr val="1B1F2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5A6472"/>
                    </a:solidFill>
                    <a:latin typeface="Arial"/>
                  </a:defRPr>
                </a:pPr>
                <a:r>
                  <a:rPr sz="1300" b="0" i="0" u="none" strike="noStrike">
                    <a:solidFill>
                      <a:srgbClr val="5A6472"/>
                    </a:solidFill>
                    <a:latin typeface="Arial"/>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5"/>
          <c:min val="3"/>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Calibr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Arya Vardhan (2024BCS0129) · about 0.5 min</a:t>
            </a:r>
          </a:p>
          <a:p>
            <a:r>
              <a:rPr lang="en-US" dirty="0"/>
              <a:t>Good morning everyone. We are presenting our course project for CSE 311, Artificial Intelligence: a review and implementation of AlphaGo Zero, from the paper “Mastering the game of Go without human knowledge” by Silver and colleagues, published in Nature in 2017.</a:t>
            </a:r>
          </a:p>
          <a:p>
            <a:r>
              <a:rPr lang="en-US" dirty="0"/>
              <a:t>I am Arya Vardhan, and with me are Shaik Shafreed, Chandrakanth, Shaik Humair Fatah and Lakavath Harshithan.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Arya Vardhan (2024BCS0129) · about 0.5 min</a:t>
            </a:r>
          </a:p>
          <a:p>
            <a:r>
              <a:rPr lang="en-US" dirty="0"/>
              <a:t>Here is our plan. We start with the problem and why AlphaGo Zero was a breakthrough, then the self-play loop at the heart of the method.</a:t>
            </a:r>
          </a:p>
          <a:p>
            <a:r>
              <a:rPr lang="en-US" dirty="0"/>
              <a:t>Next come the six algorithms we implemented: the Go environment, the neural network, Monte Carlo tree search, the exploration controls, training and evaluation. Then our curriculum and results over ten iterations, some engineering lessons, and finally our references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Arya Vardhan (2024BCS0129) · about 0.75 min</a:t>
            </a:r>
          </a:p>
          <a:p>
            <a:r>
              <a:rPr lang="en-US" dirty="0"/>
              <a:t>Why is Go hard for AI? On a full 19 by 19 board there are about 2 times 10 to the power 170 legal positions, far more than any computer could ever search. Even on our smaller 12 by 12 board, every move has 145 options: 144 points plus pass.</a:t>
            </a:r>
          </a:p>
          <a:p>
            <a:r>
              <a:rPr lang="en-US" dirty="0"/>
              <a:t>AlphaGo, in 2016, handled this partly by learning from 30 million positions of human expert games. AlphaGo Zero's key idea is to use zero human games. It starts from random play and learns only from games it plays against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Arya Vardhan (2024BCS0129) · about 0.75 min</a:t>
            </a:r>
          </a:p>
          <a:p>
            <a:r>
              <a:rPr lang="en-US" dirty="0"/>
              <a:t>This slide shows the core idea: a loop that improves itself. First, self-play: the current best network, together with tree search, plays games against itself. Second, training: the network learns to predict what the search chose and who won. Third, evaluation: the new candidate plays 40 games against the current best. Fourth, promotion: if it wins at least 55 percent, it becomes the new best, and the loop starts again.</a:t>
            </a:r>
          </a:p>
          <a:p>
            <a:r>
              <a:rPr lang="en-US" dirty="0"/>
              <a:t>A better network makes the search stronger, and a stronger search produces better training data. Shafreed will now explain how each part 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Shafreed (2024BCS0113) · about 1 min</a:t>
            </a:r>
          </a:p>
          <a:p>
            <a:r>
              <a:rPr lang="en-US" dirty="0"/>
              <a:t>Thank you, Arya. Everything starts with the game environment, which we wrote from scratch. The board is a 12 by 12 grid. Stones are captured when their group loses all its liberties. Suicide moves are illegal unless they capture. For ko we use positional superko: a move may never recreate an earlier board position, which prevents endless repetition. Passing is legal, consecutive passes end the game, and the winner is decided by area scoring, without komi. Games are capped at 500 moves.</a:t>
            </a:r>
          </a:p>
          <a:p>
            <a:r>
              <a:rPr lang="en-US" dirty="0"/>
              <a:t>On the right is how the agent sees the board: three 12 by 12 planes, its own stones, the opponent's stones and the empty points, always from the point of view of the player to move. There are 145 possible actions, and the only reward is the final result: plus one for a win, minus one for a loss.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Shafreed (2024BCS0113) · about 1.25 min</a:t>
            </a:r>
          </a:p>
          <a:p>
            <a:r>
              <a:rPr lang="en-US" dirty="0"/>
              <a:t>Algorithm one is the neural network, which we call GoNetwork. The three input planes go through a 3 by 3 convolution with 64 filters, then a tower of 10 residual blocks. Each block has two convolutions with batch normalisation and a skip connection, which lets a deep network train stably. That is the ResNet idea from He and colleagues.</a:t>
            </a:r>
          </a:p>
          <a:p>
            <a:r>
              <a:rPr lang="en-US" dirty="0"/>
              <a:t>The tower then splits into two heads. The policy head gives a probability for each of the 145 moves: which moves look promising. The value head ends in tanh and gives one number between minus one and plus one: who is likely to win from here. AlphaGo used two separate networks for this; AlphaGo Zero uses one. Ours has about 793 thousand parameters, roughly 3.2 megabytes per saved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Shafreed (2024BCS0113) · about 1.5 min</a:t>
            </a:r>
          </a:p>
          <a:p>
            <a:r>
              <a:rPr lang="en-US" dirty="0"/>
              <a:t>Algorithm two is Monte Carlo tree search, which turns the network into a strong player. For every move we run many simulations.</a:t>
            </a:r>
          </a:p>
          <a:p>
            <a:r>
              <a:rPr lang="en-US" dirty="0"/>
              <a:t>In each simulation we first select: starting at the root, we follow the move with the highest PUCT score, shown at the top. Q is how good the move has been so far, which is exploitation. The second term is exploration: it is large when the network's prior P is high but the move has few visits N. c-puct, set to 1.5, balances the two.</a:t>
            </a:r>
          </a:p>
          <a:p>
            <a:r>
              <a:rPr lang="en-US" dirty="0"/>
              <a:t>When we reach a leaf, we expand and evaluate it with a single network call. There are no random rollouts, unlike classical MCTS. Then we back up the value along the path, flipping its sign at every level because the players alternate. After all simulations we choose the move from the visit counts. The number of simulations grows from 35 to 100 per move across our curriculum.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Shafreed (2024BCS0113) · about 1 min</a:t>
            </a:r>
          </a:p>
          <a:p>
            <a:r>
              <a:rPr lang="en-US" dirty="0"/>
              <a:t>Algorithm three is about exploration. If self-play always picks the same moves, the games repeat and the network stops learning. We use three controls from the paper.</a:t>
            </a:r>
          </a:p>
          <a:p>
            <a:r>
              <a:rPr lang="en-US" dirty="0"/>
              <a:t>First, Dirichlet noise: at the root, 25 percent of the prior comes from random noise. Its parameter alpha is 10 divided by the number of moves, about 0.069 for our board; on a 19 by 19 board the same rule gives the paper's 0.03. Second, temperature: for the first 30 moves of each game we sample moves in proportion to their visit counts, and after that we play the most-visited move. Third, the exploration constant c-puct of 1.5 inside the search.</a:t>
            </a:r>
          </a:p>
          <a:p>
            <a:r>
              <a:rPr lang="en-US" dirty="0"/>
              <a:t>Now Chandrakanth will explain how we generate the data and train the network.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1 min</a:t>
            </a:r>
          </a:p>
          <a:p>
            <a:r>
              <a:rPr lang="en-US" dirty="0"/>
              <a:t>Thanks, Shafreed. Algorithm four is self-play data generation. We run 18 worker processes in parallel on the CPU, each with its own random seed. Games are played in batches of 25 and saved after every batch, so if a run stops, and ours did stop a few times, it resumes from the last batch instead of starting over.</a:t>
            </a:r>
          </a:p>
          <a:p>
            <a:r>
              <a:rPr lang="en-US" dirty="0"/>
              <a:t>Every position in every game becomes one training example: the board planes, the search's visit distribution pi, and the final result z. We also use a replay window: each iteration trains on its own games plus the previous iteration's games. At stage 5 that is 1,000 games and about 222 thousand new positions per iteration, and iteration 10 trained on almost 450 thousand positions.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1 min</a:t>
            </a:r>
          </a:p>
          <a:p>
            <a:r>
              <a:rPr lang="en-US" dirty="0"/>
              <a:t>Algorithm five is training. The loss at the top has three parts. The first is the cross-entropy between the search policy pi and the network's policy p, so the network learns to predict what the search would choose. The second is the squared error between the game result z and the predicted value v. The third is L2 regularisation, which prevents overfitting.</a:t>
            </a:r>
          </a:p>
          <a:p>
            <a:r>
              <a:rPr lang="en-US" dirty="0"/>
              <a:t>We train with stochastic gradient descent with momentum 0.9, a learning rate of 0.001, weight decay of 10 to the minus 4 and mini-batches of 32, on the laptop's RTX 4050 GPU. Each candidate starts from the current best model's weights and trains for 4 to 8 epochs depending on the stage, with a checkpoint after every epoch.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1 min</a:t>
            </a:r>
          </a:p>
          <a:p>
            <a:r>
              <a:rPr lang="en-US" dirty="0"/>
              <a:t>Algorithm six decides whether a new network is really better. The candidate plays an arena match against the current best. Colours alternate, the first 8 moves are sampled so that the games differ, and games are capped at 500 moves. From iteration 8 onward we play 40 games, and the candidate must win at least 55 percent to be promoted.</a:t>
            </a:r>
          </a:p>
          <a:p>
            <a:r>
              <a:rPr lang="en-US" dirty="0"/>
              <a:t>One important point: with 40 games, a measured win rate has a standard error of about 8 percentage points. So a 50 percent result does not mean the candidate is worse, only that it was not clearly better.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0.75 min</a:t>
            </a:r>
          </a:p>
          <a:p>
            <a:r>
              <a:rPr lang="en-US" dirty="0"/>
              <a:t>To make good use of a single laptop, we trained through a curriculum of four stages. Stage 2 plays 400 games per iteration with 35 simulations per move; stage 5 plays 1,000 games with 100 simulations and 8 epochs. Each stage trains two candidates, so iterations 3 to 10 in total.</a:t>
            </a:r>
          </a:p>
          <a:p>
            <a:r>
              <a:rPr lang="en-US" dirty="0"/>
              <a:t>Early stages are cheap and fast. Later stages search deeper, which produces stronger training targets once the network is good enough to use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1.25 min</a:t>
            </a:r>
          </a:p>
          <a:p>
            <a:r>
              <a:rPr lang="en-US" dirty="0"/>
              <a:t>Here are our results. Each bar is one candidate's win rate against the current best model. Three candidates were promoted: iteration 4 with 70 percent, iteration 7 with 55 percent, and iteration 9 with 72.5 percent, winning 29 games to 11 against iteration 7.</a:t>
            </a:r>
          </a:p>
          <a:p>
            <a:r>
              <a:rPr lang="en-US" dirty="0"/>
              <a:t>Iteration 9 is our final best model, and that result is statistically clear: about 2.8 standard errors above an even match. The other five candidates were rejected, but most of them scored between 45 and 52.5 percent, which is essentially a tie with the model they played, not a regression. This shows that the self-play loop really does produce stronger networks without any human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Chandrakanth (2024BCS0125) · about 1 min</a:t>
            </a:r>
          </a:p>
          <a:p>
            <a:r>
              <a:rPr lang="en-US" dirty="0"/>
              <a:t>This chart shows the training loss at the end of each iteration. It fell from 4.83 at iteration 3 to 3.27 at iteration 9. Almost all of it is policy loss. For comparison, guessing uniformly over 145 moves would score about 4.98, so the network has learned clear move preferences. The value loss settled near 0.03.</a:t>
            </a:r>
          </a:p>
          <a:p>
            <a:r>
              <a:rPr lang="en-US" dirty="0"/>
              <a:t>The curve flattens after iteration 6, which matches the near-50-percent evaluation results: the easy gains have been made, and further progress needs more games or deeper search. Now Humair will talk about the cost of running all this.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Humair Fatah (2024BCS0105) · about 0.75 min</a:t>
            </a:r>
          </a:p>
          <a:p>
            <a:r>
              <a:rPr lang="en-US" dirty="0"/>
              <a:t>Thank you, Chandrakanth. This table shows how much self-play each iteration needed. The number of games grew from 400 to 1,000 per iteration, and so did the time: from about half an hour at iteration 3 to more than six and a half hours at iteration 9.</a:t>
            </a:r>
          </a:p>
          <a:p>
            <a:r>
              <a:rPr lang="en-US" dirty="0"/>
              <a:t>In total, iterations 3 to 10 played 5,700 games and produced about 1.23 million training positions, which took roughly 24 and a half hours of self-play.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Humair Fatah (2024BCS0105) · about 1 min</a:t>
            </a:r>
          </a:p>
          <a:p>
            <a:r>
              <a:rPr lang="en-US" dirty="0"/>
              <a:t>We noticed something interesting when we moved from Windows to Linux on the same laptop. With exactly the same code and the same 18 workers, a batch of 25 self-play games took 10 minutes on Windows but only about 7 minutes on Linux, around 30 percent faster. Training differed even more: about 136 seconds per epoch on Windows against 78 seconds on Linux.</a:t>
            </a:r>
          </a:p>
          <a:p>
            <a:r>
              <a:rPr lang="en-US" dirty="0"/>
              <a:t>We did not profile the exact cause, but slower process creation on Windows is a likely factor. We also monitored the GPU during evaluation and found it at 0 percent, because the search evaluates one position at a time on the CPU. Shafreed will now explain the bugs we found along the 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Shaik Shafreed (2024BCS0113) · about 1.25 min</a:t>
            </a:r>
          </a:p>
          <a:p>
            <a:r>
              <a:rPr lang="en-US" dirty="0"/>
              <a:t>Implementing the paper ourselves exposed several bugs that never crashed the program but silently stopped it from learning. The most serious was the sign in the MCTS backup. Nodes stored the value from the wrong player's point of view, so the search actually picked the opponent's best move. We only noticed when a well-trained candidate lost 0 to 20. After the fix, the same model scored 9 to 11.</a:t>
            </a:r>
          </a:p>
          <a:p>
            <a:r>
              <a:rPr lang="en-US" dirty="0"/>
              <a:t>Second, the network was trained with an empty-points input plane but played with a different plane. Third, there were smaller issues: a double softmax in the loss, evaluation games that were all identical, a silent fallback to random weights, and missing Dirichlet noise. We regenerated all the data after these fixes, and a regression test now protects the MCTS fix.</a:t>
            </a:r>
          </a:p>
          <a:p>
            <a:r>
              <a:rPr lang="en-US" dirty="0"/>
              <a:t>Harshithan will take us through reproducibility and our conclusions.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Lakavath Harshithan (2024BCS0321) · about 0.75 min</a:t>
            </a:r>
          </a:p>
          <a:p>
            <a:r>
              <a:rPr lang="en-US" dirty="0"/>
              <a:t>Thank you, Shafreed. All our code is on GitHub, in the repository chandrakanth-source slash ALPHAGo-Zero, on the shafreed branch. The trained models are stored with Git LFS, and the full results are in Final_Training_Report.md.</a:t>
            </a:r>
          </a:p>
          <a:p>
            <a:r>
              <a:rPr lang="en-US" dirty="0"/>
              <a:t>To run it, you pull the models, install the requirements and run train_batched.py with a stage number. Because self-play is saved in batches, a stopped run can be restarted with the same command. The project also has a test suite of 99 passing unit tests.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Lakavath Harshithan (2024BCS0321) · about 0.5 min</a:t>
            </a:r>
          </a:p>
          <a:p>
            <a:r>
              <a:rPr lang="en-US" dirty="0"/>
              <a:t>These are the main references we used. The core paper is Silver and colleagues, 2017, in Nature. We also studied the original AlphaGo paper from 2016 and AlphaZero from 2018, the ResNet paper by He and colleagues, and the two foundational Monte Carlo tree search papers, by Kocsis and Szepesvári and by Coulom.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Presenter: Lakavath Harshithan (2024BCS0321) · about 0.75 min</a:t>
            </a:r>
          </a:p>
          <a:p>
            <a:r>
              <a:rPr lang="en-US" dirty="0"/>
              <a:t>To conclude: we implemented the complete AlphaGo Zero loop, with Go rules, a dual-head residual network, PUCT tree search, self-play, training and arena evaluation, and trained it from scratch on a single laptop. Over ten iterations three models were promoted, and iteration 9 is our best, winning 72.5 percent against its predecessor.</a:t>
            </a:r>
          </a:p>
          <a:p>
            <a:r>
              <a:rPr lang="en-US" dirty="0"/>
              <a:t>In the future we would like to use longer evaluations or an Elo ladder, compare against an external program, use larger networks and boards, and show live self-play in our web app. Thank you for listening.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64592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rgbClr val="1F3A5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64592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AlphaGo Zero: Mastering Go Through Self-Play</a:t>
            </a:r>
            <a:endParaRPr lang="en-US" sz="4400" dirty="0"/>
          </a:p>
        </p:txBody>
      </p:sp>
      <p:sp>
        <p:nvSpPr>
          <p:cNvPr id="3" name="Text 1"/>
          <p:cNvSpPr txBox="1"/>
          <p:nvPr/>
        </p:nvSpPr>
        <p:spPr>
          <a:xfrm>
            <a:off x="731520" y="3200400"/>
            <a:ext cx="10698480" cy="548640"/>
          </a:xfrm>
          <a:prstGeom prst="rect">
            <a:avLst/>
          </a:prstGeom>
          <a:noFill/>
          <a:ln/>
        </p:spPr>
        <p:txBody>
          <a:bodyPr wrap="square" lIns="0" tIns="0" rIns="0" bIns="0" rtlCol="0" anchor="t"/>
          <a:lstStyle/>
          <a:p>
            <a:pPr indent="0" marL="0">
              <a:buNone/>
            </a:pPr>
            <a:r>
              <a:rPr lang="en-US" sz="2200" dirty="0">
                <a:solidFill>
                  <a:srgbClr val="D6DEEA"/>
                </a:solidFill>
                <a:latin typeface="Calibri" pitchFamily="34" charset="0"/>
                <a:ea typeface="Calibri" pitchFamily="34" charset="-122"/>
                <a:cs typeface="Calibri" pitchFamily="34" charset="-120"/>
              </a:rPr>
              <a:t>Research paper review and implementation on a 12×12 Go board</a:t>
            </a:r>
            <a:endParaRPr lang="en-US" sz="2200" dirty="0"/>
          </a:p>
        </p:txBody>
      </p:sp>
      <p:sp>
        <p:nvSpPr>
          <p:cNvPr id="4" name="Text 2"/>
          <p:cNvSpPr txBox="1"/>
          <p:nvPr/>
        </p:nvSpPr>
        <p:spPr>
          <a:xfrm>
            <a:off x="731520" y="3794760"/>
            <a:ext cx="10698480" cy="457200"/>
          </a:xfrm>
          <a:prstGeom prst="rect">
            <a:avLst/>
          </a:prstGeom>
          <a:noFill/>
          <a:ln/>
        </p:spPr>
        <p:txBody>
          <a:bodyPr wrap="square" lIns="0" tIns="0" rIns="0" bIns="0" rtlCol="0" anchor="t"/>
          <a:lstStyle/>
          <a:p>
            <a:pPr indent="0" marL="0">
              <a:buNone/>
            </a:pPr>
            <a:r>
              <a:rPr lang="en-US" sz="1600" i="1" dirty="0">
                <a:solidFill>
                  <a:srgbClr val="D6DEEA"/>
                </a:solidFill>
                <a:latin typeface="Calibri" pitchFamily="34" charset="0"/>
                <a:ea typeface="Calibri" pitchFamily="34" charset="-122"/>
                <a:cs typeface="Calibri" pitchFamily="34" charset="-120"/>
              </a:rPr>
              <a:t>Paper: Silver et al., “Mastering the game of Go without human knowledge,” Nature 550 (2017)</a:t>
            </a:r>
            <a:endParaRPr lang="en-US" sz="1600" dirty="0"/>
          </a:p>
        </p:txBody>
      </p:sp>
      <p:sp>
        <p:nvSpPr>
          <p:cNvPr id="5" name="Text 3"/>
          <p:cNvSpPr txBox="1"/>
          <p:nvPr/>
        </p:nvSpPr>
        <p:spPr>
          <a:xfrm>
            <a:off x="731520" y="4434840"/>
            <a:ext cx="10698480" cy="2057400"/>
          </a:xfrm>
          <a:prstGeom prst="rect">
            <a:avLst/>
          </a:prstGeom>
          <a:noFill/>
          <a:ln/>
        </p:spPr>
        <p:txBody>
          <a:bodyPr wrap="square" lIns="0" tIns="0" rIns="0" bIns="0" rtlCol="0" anchor="t"/>
          <a:lstStyle/>
          <a:p>
            <a:pPr indent="0" marL="0">
              <a:spcAft>
                <a:spcPts val="600"/>
              </a:spcAft>
              <a:buNone/>
            </a:pPr>
            <a:r>
              <a:rPr lang="en-US" b="1" sz="1500" dirty="0">
                <a:solidFill>
                  <a:srgbClr val="FFFFFF"/>
                </a:solidFill>
                <a:latin typeface="Calibri" pitchFamily="34" charset="0"/>
                <a:ea typeface="Calibri" pitchFamily="34" charset="-122"/>
                <a:cs typeface="Calibri" pitchFamily="34" charset="-120"/>
              </a:rPr>
              <a:t>Submitted by</a:t>
            </a:r>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Shaik Shafreed (2024BCS0113) · Chandrakanth (2024BCS0125) · Arya Vardhan (2024BCS0129)</a:t>
            </a:r>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Shaik Humair Fatah (2024BCS0105) · Lakavath Harshithan (2024BCS0321)</a:t>
            </a:r>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CSE 311 Artificial Intelligence · Course instructor: Dr. A V Prajeesh</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Indian Institute of Information Technology Kottayam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548640" y="1508760"/>
            <a:ext cx="5440680" cy="1325880"/>
          </a:xfrm>
          <a:prstGeom prst="rect">
            <a:avLst/>
          </a:prstGeom>
          <a:solidFill>
            <a:srgbClr val="EEF2F7"/>
          </a:solidFill>
          <a:ln w="12700">
            <a:solidFill>
              <a:srgbClr val="EEF2F7"/>
            </a:solidFill>
            <a:prstDash val="solid"/>
          </a:ln>
        </p:spPr>
      </p:sp>
      <p:sp>
        <p:nvSpPr>
          <p:cNvPr id="4" name="Text 2"/>
          <p:cNvSpPr txBox="1"/>
          <p:nvPr/>
        </p:nvSpPr>
        <p:spPr>
          <a:xfrm>
            <a:off x="777240" y="173736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01</a:t>
            </a:r>
            <a:endParaRPr lang="en-US" sz="3200" dirty="0"/>
          </a:p>
        </p:txBody>
      </p:sp>
      <p:sp>
        <p:nvSpPr>
          <p:cNvPr id="5" name="Text 3"/>
          <p:cNvSpPr txBox="1"/>
          <p:nvPr/>
        </p:nvSpPr>
        <p:spPr>
          <a:xfrm>
            <a:off x="1691640" y="173736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Problem and motivation</a:t>
            </a:r>
            <a:endParaRPr lang="en-US" sz="1900" dirty="0"/>
          </a:p>
        </p:txBody>
      </p:sp>
      <p:sp>
        <p:nvSpPr>
          <p:cNvPr id="6" name="Text 4"/>
          <p:cNvSpPr txBox="1"/>
          <p:nvPr/>
        </p:nvSpPr>
        <p:spPr>
          <a:xfrm>
            <a:off x="1691640" y="219456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Why Go is hard, and what AlphaGo Zero changed</a:t>
            </a:r>
            <a:endParaRPr lang="en-US" sz="1500" dirty="0"/>
          </a:p>
        </p:txBody>
      </p:sp>
      <p:sp>
        <p:nvSpPr>
          <p:cNvPr id="7" name="Shape 5"/>
          <p:cNvSpPr/>
          <p:nvPr/>
        </p:nvSpPr>
        <p:spPr>
          <a:xfrm>
            <a:off x="6172200" y="1508760"/>
            <a:ext cx="5440680" cy="1325880"/>
          </a:xfrm>
          <a:prstGeom prst="rect">
            <a:avLst/>
          </a:prstGeom>
          <a:solidFill>
            <a:srgbClr val="EEF2F7"/>
          </a:solidFill>
          <a:ln w="12700">
            <a:solidFill>
              <a:srgbClr val="EEF2F7"/>
            </a:solidFill>
            <a:prstDash val="solid"/>
          </a:ln>
        </p:spPr>
      </p:sp>
      <p:sp>
        <p:nvSpPr>
          <p:cNvPr id="8" name="Text 6"/>
          <p:cNvSpPr txBox="1"/>
          <p:nvPr/>
        </p:nvSpPr>
        <p:spPr>
          <a:xfrm>
            <a:off x="6400800" y="173736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02</a:t>
            </a:r>
            <a:endParaRPr lang="en-US" sz="3200" dirty="0"/>
          </a:p>
        </p:txBody>
      </p:sp>
      <p:sp>
        <p:nvSpPr>
          <p:cNvPr id="9" name="Text 7"/>
          <p:cNvSpPr txBox="1"/>
          <p:nvPr/>
        </p:nvSpPr>
        <p:spPr>
          <a:xfrm>
            <a:off x="7315200" y="173736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The self-play loop</a:t>
            </a:r>
            <a:endParaRPr lang="en-US" sz="1900" dirty="0"/>
          </a:p>
        </p:txBody>
      </p:sp>
      <p:sp>
        <p:nvSpPr>
          <p:cNvPr id="10" name="Text 8"/>
          <p:cNvSpPr txBox="1"/>
          <p:nvPr/>
        </p:nvSpPr>
        <p:spPr>
          <a:xfrm>
            <a:off x="7315200" y="219456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How the system teaches itself</a:t>
            </a:r>
            <a:endParaRPr lang="en-US" sz="1500" dirty="0"/>
          </a:p>
        </p:txBody>
      </p:sp>
      <p:sp>
        <p:nvSpPr>
          <p:cNvPr id="11" name="Shape 9"/>
          <p:cNvSpPr/>
          <p:nvPr/>
        </p:nvSpPr>
        <p:spPr>
          <a:xfrm>
            <a:off x="548640" y="3063240"/>
            <a:ext cx="5440680" cy="1325880"/>
          </a:xfrm>
          <a:prstGeom prst="rect">
            <a:avLst/>
          </a:prstGeom>
          <a:solidFill>
            <a:srgbClr val="EEF2F7"/>
          </a:solidFill>
          <a:ln w="12700">
            <a:solidFill>
              <a:srgbClr val="EEF2F7"/>
            </a:solidFill>
            <a:prstDash val="solid"/>
          </a:ln>
        </p:spPr>
      </p:sp>
      <p:sp>
        <p:nvSpPr>
          <p:cNvPr id="12" name="Text 10"/>
          <p:cNvSpPr txBox="1"/>
          <p:nvPr/>
        </p:nvSpPr>
        <p:spPr>
          <a:xfrm>
            <a:off x="777240" y="329184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03</a:t>
            </a:r>
            <a:endParaRPr lang="en-US" sz="3200" dirty="0"/>
          </a:p>
        </p:txBody>
      </p:sp>
      <p:sp>
        <p:nvSpPr>
          <p:cNvPr id="13" name="Text 11"/>
          <p:cNvSpPr txBox="1"/>
          <p:nvPr/>
        </p:nvSpPr>
        <p:spPr>
          <a:xfrm>
            <a:off x="1691640" y="329184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Six algorithms</a:t>
            </a:r>
            <a:endParaRPr lang="en-US" sz="1900" dirty="0"/>
          </a:p>
        </p:txBody>
      </p:sp>
      <p:sp>
        <p:nvSpPr>
          <p:cNvPr id="14" name="Text 12"/>
          <p:cNvSpPr txBox="1"/>
          <p:nvPr/>
        </p:nvSpPr>
        <p:spPr>
          <a:xfrm>
            <a:off x="1691640" y="374904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Environment, network, MCTS, exploration, training, evaluation</a:t>
            </a:r>
            <a:endParaRPr lang="en-US" sz="1500" dirty="0"/>
          </a:p>
        </p:txBody>
      </p:sp>
      <p:sp>
        <p:nvSpPr>
          <p:cNvPr id="15" name="Shape 13"/>
          <p:cNvSpPr/>
          <p:nvPr/>
        </p:nvSpPr>
        <p:spPr>
          <a:xfrm>
            <a:off x="6172200" y="3063240"/>
            <a:ext cx="5440680" cy="1325880"/>
          </a:xfrm>
          <a:prstGeom prst="rect">
            <a:avLst/>
          </a:prstGeom>
          <a:solidFill>
            <a:srgbClr val="EEF2F7"/>
          </a:solidFill>
          <a:ln w="12700">
            <a:solidFill>
              <a:srgbClr val="EEF2F7"/>
            </a:solidFill>
            <a:prstDash val="solid"/>
          </a:ln>
        </p:spPr>
      </p:sp>
      <p:sp>
        <p:nvSpPr>
          <p:cNvPr id="16" name="Text 14"/>
          <p:cNvSpPr txBox="1"/>
          <p:nvPr/>
        </p:nvSpPr>
        <p:spPr>
          <a:xfrm>
            <a:off x="6400800" y="329184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04</a:t>
            </a:r>
            <a:endParaRPr lang="en-US" sz="3200" dirty="0"/>
          </a:p>
        </p:txBody>
      </p:sp>
      <p:sp>
        <p:nvSpPr>
          <p:cNvPr id="17" name="Text 15"/>
          <p:cNvSpPr txBox="1"/>
          <p:nvPr/>
        </p:nvSpPr>
        <p:spPr>
          <a:xfrm>
            <a:off x="7315200" y="329184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Curriculum and results</a:t>
            </a:r>
            <a:endParaRPr lang="en-US" sz="1900" dirty="0"/>
          </a:p>
        </p:txBody>
      </p:sp>
      <p:sp>
        <p:nvSpPr>
          <p:cNvPr id="18" name="Text 16"/>
          <p:cNvSpPr txBox="1"/>
          <p:nvPr/>
        </p:nvSpPr>
        <p:spPr>
          <a:xfrm>
            <a:off x="7315200" y="374904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Ten iterations, three promotions</a:t>
            </a:r>
            <a:endParaRPr lang="en-US" sz="1500" dirty="0"/>
          </a:p>
        </p:txBody>
      </p:sp>
      <p:sp>
        <p:nvSpPr>
          <p:cNvPr id="19" name="Shape 17"/>
          <p:cNvSpPr/>
          <p:nvPr/>
        </p:nvSpPr>
        <p:spPr>
          <a:xfrm>
            <a:off x="548640" y="4617720"/>
            <a:ext cx="5440680" cy="1325880"/>
          </a:xfrm>
          <a:prstGeom prst="rect">
            <a:avLst/>
          </a:prstGeom>
          <a:solidFill>
            <a:srgbClr val="EEF2F7"/>
          </a:solidFill>
          <a:ln w="12700">
            <a:solidFill>
              <a:srgbClr val="EEF2F7"/>
            </a:solidFill>
            <a:prstDash val="solid"/>
          </a:ln>
        </p:spPr>
      </p:sp>
      <p:sp>
        <p:nvSpPr>
          <p:cNvPr id="20" name="Text 18"/>
          <p:cNvSpPr txBox="1"/>
          <p:nvPr/>
        </p:nvSpPr>
        <p:spPr>
          <a:xfrm>
            <a:off x="777240" y="484632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05</a:t>
            </a:r>
            <a:endParaRPr lang="en-US" sz="3200" dirty="0"/>
          </a:p>
        </p:txBody>
      </p:sp>
      <p:sp>
        <p:nvSpPr>
          <p:cNvPr id="21" name="Text 19"/>
          <p:cNvSpPr txBox="1"/>
          <p:nvPr/>
        </p:nvSpPr>
        <p:spPr>
          <a:xfrm>
            <a:off x="1691640" y="484632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Engineering lessons</a:t>
            </a:r>
            <a:endParaRPr lang="en-US" sz="1900" dirty="0"/>
          </a:p>
        </p:txBody>
      </p:sp>
      <p:sp>
        <p:nvSpPr>
          <p:cNvPr id="22" name="Text 20"/>
          <p:cNvSpPr txBox="1"/>
          <p:nvPr/>
        </p:nvSpPr>
        <p:spPr>
          <a:xfrm>
            <a:off x="1691640" y="530352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Bugs found, hardware timings, reproducibility</a:t>
            </a:r>
            <a:endParaRPr lang="en-US" sz="1500" dirty="0"/>
          </a:p>
        </p:txBody>
      </p:sp>
      <p:sp>
        <p:nvSpPr>
          <p:cNvPr id="23" name="Shape 21"/>
          <p:cNvSpPr/>
          <p:nvPr/>
        </p:nvSpPr>
        <p:spPr>
          <a:xfrm>
            <a:off x="6172200" y="4617720"/>
            <a:ext cx="5440680" cy="1325880"/>
          </a:xfrm>
          <a:prstGeom prst="rect">
            <a:avLst/>
          </a:prstGeom>
          <a:solidFill>
            <a:srgbClr val="EEF2F7"/>
          </a:solidFill>
          <a:ln w="12700">
            <a:solidFill>
              <a:srgbClr val="EEF2F7"/>
            </a:solidFill>
            <a:prstDash val="solid"/>
          </a:ln>
        </p:spPr>
      </p:sp>
      <p:sp>
        <p:nvSpPr>
          <p:cNvPr id="24" name="Text 22"/>
          <p:cNvSpPr txBox="1"/>
          <p:nvPr/>
        </p:nvSpPr>
        <p:spPr>
          <a:xfrm>
            <a:off x="6400800" y="4846320"/>
            <a:ext cx="822960" cy="82296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06</a:t>
            </a:r>
            <a:endParaRPr lang="en-US" sz="3200" dirty="0"/>
          </a:p>
        </p:txBody>
      </p:sp>
      <p:sp>
        <p:nvSpPr>
          <p:cNvPr id="25" name="Text 23"/>
          <p:cNvSpPr txBox="1"/>
          <p:nvPr/>
        </p:nvSpPr>
        <p:spPr>
          <a:xfrm>
            <a:off x="7315200" y="4846320"/>
            <a:ext cx="4114800" cy="411480"/>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References and conclusion</a:t>
            </a:r>
            <a:endParaRPr lang="en-US" sz="1900" dirty="0"/>
          </a:p>
        </p:txBody>
      </p:sp>
      <p:sp>
        <p:nvSpPr>
          <p:cNvPr id="26" name="Text 24"/>
          <p:cNvSpPr txBox="1"/>
          <p:nvPr/>
        </p:nvSpPr>
        <p:spPr>
          <a:xfrm>
            <a:off x="7315200" y="5303520"/>
            <a:ext cx="4114800" cy="45720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Papers reviewed and future work</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Why Go is hard for AI</a:t>
            </a:r>
            <a:endParaRPr lang="en-US" sz="3200" dirty="0"/>
          </a:p>
        </p:txBody>
      </p:sp>
      <p:sp>
        <p:nvSpPr>
          <p:cNvPr id="3" name="Shape 1"/>
          <p:cNvSpPr/>
          <p:nvPr/>
        </p:nvSpPr>
        <p:spPr>
          <a:xfrm>
            <a:off x="548640" y="1463040"/>
            <a:ext cx="3520440" cy="2651760"/>
          </a:xfrm>
          <a:prstGeom prst="rect">
            <a:avLst/>
          </a:prstGeom>
          <a:solidFill>
            <a:srgbClr val="EEF2F7"/>
          </a:solidFill>
          <a:ln w="12700">
            <a:solidFill>
              <a:srgbClr val="EEF2F7"/>
            </a:solidFill>
            <a:prstDash val="solid"/>
          </a:ln>
        </p:spPr>
      </p:sp>
      <p:sp>
        <p:nvSpPr>
          <p:cNvPr id="4" name="Text 2"/>
          <p:cNvSpPr txBox="1"/>
          <p:nvPr/>
        </p:nvSpPr>
        <p:spPr>
          <a:xfrm>
            <a:off x="822960" y="1691640"/>
            <a:ext cx="3017520" cy="1005840"/>
          </a:xfrm>
          <a:prstGeom prst="rect">
            <a:avLst/>
          </a:prstGeom>
          <a:noFill/>
          <a:ln/>
        </p:spPr>
        <p:txBody>
          <a:bodyPr wrap="square" lIns="0" tIns="0" rIns="0" bIns="0" rtlCol="0" anchor="t"/>
          <a:lstStyle/>
          <a:p>
            <a:pPr indent="0" marL="0">
              <a:buNone/>
            </a:pPr>
            <a:r>
              <a:rPr lang="en-US" sz="4800" b="1" dirty="0">
                <a:solidFill>
                  <a:srgbClr val="C8862A"/>
                </a:solidFill>
                <a:latin typeface="Cambria" pitchFamily="34" charset="0"/>
                <a:ea typeface="Cambria" pitchFamily="34" charset="-122"/>
                <a:cs typeface="Cambria" pitchFamily="34" charset="-120"/>
              </a:rPr>
              <a:t>≈2×10</a:t>
            </a:r>
            <a:pPr indent="0" marL="0">
              <a:buNone/>
            </a:pPr>
            <a:r>
              <a:rPr lang="en-US" sz="4800" b="1" baseline="30000" dirty="0">
                <a:solidFill>
                  <a:srgbClr val="C8862A"/>
                </a:solidFill>
                <a:latin typeface="Cambria" pitchFamily="34" charset="0"/>
                <a:ea typeface="Cambria" pitchFamily="34" charset="-122"/>
                <a:cs typeface="Cambria" pitchFamily="34" charset="-120"/>
              </a:rPr>
              <a:t>170</a:t>
            </a:r>
            <a:endParaRPr lang="en-US" sz="4800" dirty="0"/>
          </a:p>
        </p:txBody>
      </p:sp>
      <p:sp>
        <p:nvSpPr>
          <p:cNvPr id="5" name="Text 3"/>
          <p:cNvSpPr txBox="1"/>
          <p:nvPr/>
        </p:nvSpPr>
        <p:spPr>
          <a:xfrm>
            <a:off x="822960" y="2788920"/>
            <a:ext cx="3017520" cy="118872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legal positions on a full 19×19 board, far beyond exhaustive search</a:t>
            </a:r>
            <a:endParaRPr lang="en-US" sz="1600" dirty="0"/>
          </a:p>
        </p:txBody>
      </p:sp>
      <p:sp>
        <p:nvSpPr>
          <p:cNvPr id="6" name="Shape 4"/>
          <p:cNvSpPr/>
          <p:nvPr/>
        </p:nvSpPr>
        <p:spPr>
          <a:xfrm>
            <a:off x="4297680" y="1463040"/>
            <a:ext cx="3520440" cy="2651760"/>
          </a:xfrm>
          <a:prstGeom prst="rect">
            <a:avLst/>
          </a:prstGeom>
          <a:solidFill>
            <a:srgbClr val="EEF2F7"/>
          </a:solidFill>
          <a:ln w="12700">
            <a:solidFill>
              <a:srgbClr val="EEF2F7"/>
            </a:solidFill>
            <a:prstDash val="solid"/>
          </a:ln>
        </p:spPr>
      </p:sp>
      <p:sp>
        <p:nvSpPr>
          <p:cNvPr id="7" name="Text 5"/>
          <p:cNvSpPr txBox="1"/>
          <p:nvPr/>
        </p:nvSpPr>
        <p:spPr>
          <a:xfrm>
            <a:off x="4572000" y="1691640"/>
            <a:ext cx="3017520" cy="1005840"/>
          </a:xfrm>
          <a:prstGeom prst="rect">
            <a:avLst/>
          </a:prstGeom>
          <a:noFill/>
          <a:ln/>
        </p:spPr>
        <p:txBody>
          <a:bodyPr wrap="square" lIns="0" tIns="0" rIns="0" bIns="0" rtlCol="0" anchor="t"/>
          <a:lstStyle/>
          <a:p>
            <a:pPr indent="0" marL="0">
              <a:buNone/>
            </a:pPr>
            <a:r>
              <a:rPr lang="en-US" sz="4800" b="1" dirty="0">
                <a:solidFill>
                  <a:srgbClr val="C8862A"/>
                </a:solidFill>
                <a:latin typeface="Cambria" pitchFamily="34" charset="0"/>
                <a:ea typeface="Cambria" pitchFamily="34" charset="-122"/>
                <a:cs typeface="Cambria" pitchFamily="34" charset="-120"/>
              </a:rPr>
              <a:t>145</a:t>
            </a:r>
            <a:endParaRPr lang="en-US" sz="4800" dirty="0"/>
          </a:p>
        </p:txBody>
      </p:sp>
      <p:sp>
        <p:nvSpPr>
          <p:cNvPr id="8" name="Text 6"/>
          <p:cNvSpPr txBox="1"/>
          <p:nvPr/>
        </p:nvSpPr>
        <p:spPr>
          <a:xfrm>
            <a:off x="4572000" y="2788920"/>
            <a:ext cx="3017520" cy="118872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possible actions per move on our 12×12 board (144 points + pass)</a:t>
            </a:r>
            <a:endParaRPr lang="en-US" sz="1600" dirty="0"/>
          </a:p>
        </p:txBody>
      </p:sp>
      <p:sp>
        <p:nvSpPr>
          <p:cNvPr id="9" name="Shape 7"/>
          <p:cNvSpPr/>
          <p:nvPr/>
        </p:nvSpPr>
        <p:spPr>
          <a:xfrm>
            <a:off x="8046720" y="1463040"/>
            <a:ext cx="3520440" cy="2651760"/>
          </a:xfrm>
          <a:prstGeom prst="rect">
            <a:avLst/>
          </a:prstGeom>
          <a:solidFill>
            <a:srgbClr val="EEF2F7"/>
          </a:solidFill>
          <a:ln w="12700">
            <a:solidFill>
              <a:srgbClr val="EEF2F7"/>
            </a:solidFill>
            <a:prstDash val="solid"/>
          </a:ln>
        </p:spPr>
      </p:sp>
      <p:sp>
        <p:nvSpPr>
          <p:cNvPr id="10" name="Text 8"/>
          <p:cNvSpPr txBox="1"/>
          <p:nvPr/>
        </p:nvSpPr>
        <p:spPr>
          <a:xfrm>
            <a:off x="8321040" y="1691640"/>
            <a:ext cx="3017520" cy="1005840"/>
          </a:xfrm>
          <a:prstGeom prst="rect">
            <a:avLst/>
          </a:prstGeom>
          <a:noFill/>
          <a:ln/>
        </p:spPr>
        <p:txBody>
          <a:bodyPr wrap="square" lIns="0" tIns="0" rIns="0" bIns="0" rtlCol="0" anchor="t"/>
          <a:lstStyle/>
          <a:p>
            <a:pPr indent="0" marL="0">
              <a:buNone/>
            </a:pPr>
            <a:r>
              <a:rPr lang="en-US" sz="4800" b="1" dirty="0">
                <a:solidFill>
                  <a:srgbClr val="C8862A"/>
                </a:solidFill>
                <a:latin typeface="Cambria" pitchFamily="34" charset="0"/>
                <a:ea typeface="Cambria" pitchFamily="34" charset="-122"/>
                <a:cs typeface="Cambria" pitchFamily="34" charset="-120"/>
              </a:rPr>
              <a:t>0</a:t>
            </a:r>
            <a:endParaRPr lang="en-US" sz="4800" dirty="0"/>
          </a:p>
        </p:txBody>
      </p:sp>
      <p:sp>
        <p:nvSpPr>
          <p:cNvPr id="11" name="Text 9"/>
          <p:cNvSpPr txBox="1"/>
          <p:nvPr/>
        </p:nvSpPr>
        <p:spPr>
          <a:xfrm>
            <a:off x="8321040" y="2788920"/>
            <a:ext cx="3017520" cy="118872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human games used by AlphaGo Zero; it learns only from self-play</a:t>
            </a:r>
            <a:endParaRPr lang="en-US" sz="1600" dirty="0"/>
          </a:p>
        </p:txBody>
      </p:sp>
      <p:sp>
        <p:nvSpPr>
          <p:cNvPr id="12" name="Text 10"/>
          <p:cNvSpPr txBox="1"/>
          <p:nvPr/>
        </p:nvSpPr>
        <p:spPr>
          <a:xfrm>
            <a:off x="548640" y="443484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AlphaGo (2016) started from 30 million positions of human expert play, then improved with reinforcement learning.</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AlphaGo Zero (2017) removes human data and hand-crafted features: one network, trained only on games it plays against itself.</a:t>
            </a:r>
            <a:endParaRPr lang="en-US" sz="17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The core idea: a self-improving loop</a:t>
            </a:r>
            <a:endParaRPr lang="en-US" sz="3200" dirty="0"/>
          </a:p>
        </p:txBody>
      </p:sp>
      <p:sp>
        <p:nvSpPr>
          <p:cNvPr id="3" name="Shape 1"/>
          <p:cNvSpPr/>
          <p:nvPr/>
        </p:nvSpPr>
        <p:spPr>
          <a:xfrm>
            <a:off x="548640" y="1554480"/>
            <a:ext cx="2468880" cy="2377440"/>
          </a:xfrm>
          <a:prstGeom prst="rect">
            <a:avLst/>
          </a:prstGeom>
          <a:solidFill>
            <a:srgbClr val="EEF2F7"/>
          </a:solidFill>
          <a:ln w="12700">
            <a:solidFill>
              <a:srgbClr val="EEF2F7"/>
            </a:solidFill>
            <a:prstDash val="solid"/>
          </a:ln>
        </p:spPr>
      </p:sp>
      <p:sp>
        <p:nvSpPr>
          <p:cNvPr id="4" name="Text 2"/>
          <p:cNvSpPr txBox="1"/>
          <p:nvPr/>
        </p:nvSpPr>
        <p:spPr>
          <a:xfrm>
            <a:off x="731520" y="1737360"/>
            <a:ext cx="2103120" cy="4572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1  Self-play</a:t>
            </a:r>
            <a:endParaRPr lang="en-US" sz="2000" dirty="0"/>
          </a:p>
        </p:txBody>
      </p:sp>
      <p:sp>
        <p:nvSpPr>
          <p:cNvPr id="5" name="Text 3"/>
          <p:cNvSpPr txBox="1"/>
          <p:nvPr/>
        </p:nvSpPr>
        <p:spPr>
          <a:xfrm>
            <a:off x="731520" y="2286000"/>
            <a:ext cx="2103120" cy="15544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MCTS, guided by the current best network, plays games against itself</a:t>
            </a:r>
            <a:endParaRPr lang="en-US" sz="1500" dirty="0"/>
          </a:p>
        </p:txBody>
      </p:sp>
      <p:sp>
        <p:nvSpPr>
          <p:cNvPr id="6" name="Shape 4"/>
          <p:cNvSpPr/>
          <p:nvPr/>
        </p:nvSpPr>
        <p:spPr>
          <a:xfrm>
            <a:off x="3063240" y="2743200"/>
            <a:ext cx="274320" cy="0"/>
          </a:xfrm>
          <a:prstGeom prst="line">
            <a:avLst/>
          </a:prstGeom>
          <a:noFill/>
          <a:ln w="25400">
            <a:solidFill>
              <a:srgbClr val="5A6472"/>
            </a:solidFill>
            <a:prstDash val="solid"/>
            <a:tailEnd type="triangle"/>
          </a:ln>
        </p:spPr>
      </p:sp>
      <p:sp>
        <p:nvSpPr>
          <p:cNvPr id="7" name="Shape 5"/>
          <p:cNvSpPr/>
          <p:nvPr/>
        </p:nvSpPr>
        <p:spPr>
          <a:xfrm>
            <a:off x="3383280" y="1554480"/>
            <a:ext cx="2468880" cy="2377440"/>
          </a:xfrm>
          <a:prstGeom prst="rect">
            <a:avLst/>
          </a:prstGeom>
          <a:solidFill>
            <a:srgbClr val="EEF2F7"/>
          </a:solidFill>
          <a:ln w="12700">
            <a:solidFill>
              <a:srgbClr val="EEF2F7"/>
            </a:solidFill>
            <a:prstDash val="solid"/>
          </a:ln>
        </p:spPr>
      </p:sp>
      <p:sp>
        <p:nvSpPr>
          <p:cNvPr id="8" name="Text 6"/>
          <p:cNvSpPr txBox="1"/>
          <p:nvPr/>
        </p:nvSpPr>
        <p:spPr>
          <a:xfrm>
            <a:off x="3566160" y="1737360"/>
            <a:ext cx="2103120" cy="4572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2  Train</a:t>
            </a:r>
            <a:endParaRPr lang="en-US" sz="2000" dirty="0"/>
          </a:p>
        </p:txBody>
      </p:sp>
      <p:sp>
        <p:nvSpPr>
          <p:cNvPr id="9" name="Text 7"/>
          <p:cNvSpPr txBox="1"/>
          <p:nvPr/>
        </p:nvSpPr>
        <p:spPr>
          <a:xfrm>
            <a:off x="3566160" y="2286000"/>
            <a:ext cx="2103120" cy="15544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The network learns to predict the MCTS move choice and the game winner</a:t>
            </a:r>
            <a:endParaRPr lang="en-US" sz="1500" dirty="0"/>
          </a:p>
        </p:txBody>
      </p:sp>
      <p:sp>
        <p:nvSpPr>
          <p:cNvPr id="10" name="Shape 8"/>
          <p:cNvSpPr/>
          <p:nvPr/>
        </p:nvSpPr>
        <p:spPr>
          <a:xfrm>
            <a:off x="5897880" y="2743200"/>
            <a:ext cx="274320" cy="0"/>
          </a:xfrm>
          <a:prstGeom prst="line">
            <a:avLst/>
          </a:prstGeom>
          <a:noFill/>
          <a:ln w="25400">
            <a:solidFill>
              <a:srgbClr val="5A6472"/>
            </a:solidFill>
            <a:prstDash val="solid"/>
            <a:tailEnd type="triangle"/>
          </a:ln>
        </p:spPr>
      </p:sp>
      <p:sp>
        <p:nvSpPr>
          <p:cNvPr id="11" name="Shape 9"/>
          <p:cNvSpPr/>
          <p:nvPr/>
        </p:nvSpPr>
        <p:spPr>
          <a:xfrm>
            <a:off x="6217920" y="1554480"/>
            <a:ext cx="2468880" cy="2377440"/>
          </a:xfrm>
          <a:prstGeom prst="rect">
            <a:avLst/>
          </a:prstGeom>
          <a:solidFill>
            <a:srgbClr val="EEF2F7"/>
          </a:solidFill>
          <a:ln w="12700">
            <a:solidFill>
              <a:srgbClr val="EEF2F7"/>
            </a:solidFill>
            <a:prstDash val="solid"/>
          </a:ln>
        </p:spPr>
      </p:sp>
      <p:sp>
        <p:nvSpPr>
          <p:cNvPr id="12" name="Text 10"/>
          <p:cNvSpPr txBox="1"/>
          <p:nvPr/>
        </p:nvSpPr>
        <p:spPr>
          <a:xfrm>
            <a:off x="6400800" y="1737360"/>
            <a:ext cx="2103120" cy="4572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3  Evaluate</a:t>
            </a:r>
            <a:endParaRPr lang="en-US" sz="2000" dirty="0"/>
          </a:p>
        </p:txBody>
      </p:sp>
      <p:sp>
        <p:nvSpPr>
          <p:cNvPr id="13" name="Text 11"/>
          <p:cNvSpPr txBox="1"/>
          <p:nvPr/>
        </p:nvSpPr>
        <p:spPr>
          <a:xfrm>
            <a:off x="6400800" y="2286000"/>
            <a:ext cx="2103120" cy="15544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The new candidate plays 40 games against the current best</a:t>
            </a:r>
            <a:endParaRPr lang="en-US" sz="1500" dirty="0"/>
          </a:p>
        </p:txBody>
      </p:sp>
      <p:sp>
        <p:nvSpPr>
          <p:cNvPr id="14" name="Shape 12"/>
          <p:cNvSpPr/>
          <p:nvPr/>
        </p:nvSpPr>
        <p:spPr>
          <a:xfrm>
            <a:off x="8732520" y="2743200"/>
            <a:ext cx="274320" cy="0"/>
          </a:xfrm>
          <a:prstGeom prst="line">
            <a:avLst/>
          </a:prstGeom>
          <a:noFill/>
          <a:ln w="25400">
            <a:solidFill>
              <a:srgbClr val="5A6472"/>
            </a:solidFill>
            <a:prstDash val="solid"/>
            <a:tailEnd type="triangle"/>
          </a:ln>
        </p:spPr>
      </p:sp>
      <p:sp>
        <p:nvSpPr>
          <p:cNvPr id="15" name="Shape 13"/>
          <p:cNvSpPr/>
          <p:nvPr/>
        </p:nvSpPr>
        <p:spPr>
          <a:xfrm>
            <a:off x="9052560" y="1554480"/>
            <a:ext cx="2468880" cy="2377440"/>
          </a:xfrm>
          <a:prstGeom prst="rect">
            <a:avLst/>
          </a:prstGeom>
          <a:solidFill>
            <a:srgbClr val="EEF2F7"/>
          </a:solidFill>
          <a:ln w="12700">
            <a:solidFill>
              <a:srgbClr val="EEF2F7"/>
            </a:solidFill>
            <a:prstDash val="solid"/>
          </a:ln>
        </p:spPr>
      </p:sp>
      <p:sp>
        <p:nvSpPr>
          <p:cNvPr id="16" name="Text 14"/>
          <p:cNvSpPr txBox="1"/>
          <p:nvPr/>
        </p:nvSpPr>
        <p:spPr>
          <a:xfrm>
            <a:off x="9235440" y="1737360"/>
            <a:ext cx="2103120" cy="4572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4  Promote</a:t>
            </a:r>
            <a:endParaRPr lang="en-US" sz="2000" dirty="0"/>
          </a:p>
        </p:txBody>
      </p:sp>
      <p:sp>
        <p:nvSpPr>
          <p:cNvPr id="17" name="Text 15"/>
          <p:cNvSpPr txBox="1"/>
          <p:nvPr/>
        </p:nvSpPr>
        <p:spPr>
          <a:xfrm>
            <a:off x="9235440" y="2286000"/>
            <a:ext cx="2103120" cy="15544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If it wins at least 55%, it becomes the new best network</a:t>
            </a:r>
            <a:endParaRPr lang="en-US" sz="1500" dirty="0"/>
          </a:p>
        </p:txBody>
      </p:sp>
      <p:sp>
        <p:nvSpPr>
          <p:cNvPr id="18" name="Shape 16"/>
          <p:cNvSpPr/>
          <p:nvPr/>
        </p:nvSpPr>
        <p:spPr>
          <a:xfrm>
            <a:off x="9464040" y="3977640"/>
            <a:ext cx="0" cy="502920"/>
          </a:xfrm>
          <a:prstGeom prst="line">
            <a:avLst/>
          </a:prstGeom>
          <a:noFill/>
          <a:ln w="25400">
            <a:solidFill>
              <a:srgbClr val="5A6472"/>
            </a:solidFill>
            <a:prstDash val="solid"/>
          </a:ln>
        </p:spPr>
      </p:sp>
      <p:sp>
        <p:nvSpPr>
          <p:cNvPr id="19" name="Shape 17"/>
          <p:cNvSpPr/>
          <p:nvPr/>
        </p:nvSpPr>
        <p:spPr>
          <a:xfrm>
            <a:off x="1783080" y="4480560"/>
            <a:ext cx="7680960" cy="0"/>
          </a:xfrm>
          <a:prstGeom prst="line">
            <a:avLst/>
          </a:prstGeom>
          <a:noFill/>
          <a:ln w="25400">
            <a:solidFill>
              <a:srgbClr val="5A6472"/>
            </a:solidFill>
            <a:prstDash val="solid"/>
          </a:ln>
        </p:spPr>
      </p:sp>
      <p:sp>
        <p:nvSpPr>
          <p:cNvPr id="20" name="Shape 18"/>
          <p:cNvSpPr/>
          <p:nvPr/>
        </p:nvSpPr>
        <p:spPr>
          <a:xfrm flipV="1">
            <a:off x="1783080" y="3977640"/>
            <a:ext cx="0" cy="502920"/>
          </a:xfrm>
          <a:prstGeom prst="line">
            <a:avLst/>
          </a:prstGeom>
          <a:noFill/>
          <a:ln w="25400">
            <a:solidFill>
              <a:srgbClr val="5A6472"/>
            </a:solidFill>
            <a:prstDash val="solid"/>
            <a:tailEnd type="triangle"/>
          </a:ln>
        </p:spPr>
      </p:sp>
      <p:sp>
        <p:nvSpPr>
          <p:cNvPr id="21" name="Text 19"/>
          <p:cNvSpPr txBox="1"/>
          <p:nvPr/>
        </p:nvSpPr>
        <p:spPr>
          <a:xfrm>
            <a:off x="4023360" y="4553712"/>
            <a:ext cx="4114800" cy="365760"/>
          </a:xfrm>
          <a:prstGeom prst="rect">
            <a:avLst/>
          </a:prstGeom>
          <a:noFill/>
          <a:ln/>
        </p:spPr>
        <p:txBody>
          <a:bodyPr wrap="square" lIns="0" tIns="0" rIns="0" bIns="0" rtlCol="0" anchor="t"/>
          <a:lstStyle/>
          <a:p>
            <a:pPr algn="ctr" indent="0" marL="0">
              <a:buNone/>
            </a:pPr>
            <a:r>
              <a:rPr lang="en-US" sz="1300" i="1" dirty="0">
                <a:solidFill>
                  <a:srgbClr val="5A6472"/>
                </a:solidFill>
                <a:latin typeface="Calibri" pitchFamily="34" charset="0"/>
                <a:ea typeface="Calibri" pitchFamily="34" charset="-122"/>
                <a:cs typeface="Calibri" pitchFamily="34" charset="-120"/>
              </a:rPr>
              <a:t>next iteration uses the best network</a:t>
            </a:r>
            <a:endParaRPr lang="en-US" sz="1300" dirty="0"/>
          </a:p>
        </p:txBody>
      </p:sp>
      <p:sp>
        <p:nvSpPr>
          <p:cNvPr id="22" name="Text 20"/>
          <p:cNvSpPr txBox="1"/>
          <p:nvPr/>
        </p:nvSpPr>
        <p:spPr>
          <a:xfrm>
            <a:off x="548640" y="5212080"/>
            <a:ext cx="11064240" cy="914400"/>
          </a:xfrm>
          <a:prstGeom prst="rect">
            <a:avLst/>
          </a:prstGeom>
          <a:noFill/>
          <a:ln/>
        </p:spPr>
        <p:txBody>
          <a:bodyPr wrap="square" lIns="0" tIns="0" rIns="0" bIns="0" rtlCol="0" anchor="t"/>
          <a:lstStyle/>
          <a:p>
            <a:pPr indent="0" marL="0">
              <a:buNone/>
            </a:pPr>
            <a:r>
              <a:rPr lang="en-US" sz="1700" dirty="0">
                <a:solidFill>
                  <a:srgbClr val="1B1F24"/>
                </a:solidFill>
                <a:latin typeface="Calibri" pitchFamily="34" charset="0"/>
                <a:ea typeface="Calibri" pitchFamily="34" charset="-122"/>
                <a:cs typeface="Calibri" pitchFamily="34" charset="-120"/>
              </a:rPr>
              <a:t>A stronger network makes the search stronger, and a stronger search produces better training targets. Nothing in the loop needs human knowledge beyond the rules of Go.</a:t>
            </a:r>
            <a:endParaRPr lang="en-US" sz="17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The environment: 12×12 Go</a:t>
            </a:r>
            <a:endParaRPr lang="en-US" sz="3200" dirty="0"/>
          </a:p>
        </p:txBody>
      </p:sp>
      <p:sp>
        <p:nvSpPr>
          <p:cNvPr id="3" name="Shape 1"/>
          <p:cNvSpPr/>
          <p:nvPr/>
        </p:nvSpPr>
        <p:spPr>
          <a:xfrm>
            <a:off x="548640" y="1463040"/>
            <a:ext cx="5394960" cy="4023360"/>
          </a:xfrm>
          <a:prstGeom prst="rect">
            <a:avLst/>
          </a:prstGeom>
          <a:solidFill>
            <a:srgbClr val="EEF2F7"/>
          </a:solidFill>
          <a:ln w="12700">
            <a:solidFill>
              <a:srgbClr val="EEF2F7"/>
            </a:solidFill>
            <a:prstDash val="solid"/>
          </a:ln>
        </p:spPr>
      </p:sp>
      <p:sp>
        <p:nvSpPr>
          <p:cNvPr id="4" name="Text 2"/>
          <p:cNvSpPr txBox="1"/>
          <p:nvPr/>
        </p:nvSpPr>
        <p:spPr>
          <a:xfrm>
            <a:off x="777240" y="1645920"/>
            <a:ext cx="49377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Rules implemented</a:t>
            </a:r>
            <a:endParaRPr lang="en-US" sz="1800" dirty="0"/>
          </a:p>
        </p:txBody>
      </p:sp>
      <p:sp>
        <p:nvSpPr>
          <p:cNvPr id="5" name="Text 3"/>
          <p:cNvSpPr txBox="1"/>
          <p:nvPr/>
        </p:nvSpPr>
        <p:spPr>
          <a:xfrm>
            <a:off x="777240" y="219456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Stones are captured when they lose all liberties</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Suicide moves are illegal</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Ko rule prevents repeating the previous position</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Passing is a legal move; consecutive passes end the game</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Area scoring at the end (no komi)</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Games are capped at 500 moves</a:t>
            </a:r>
            <a:endParaRPr lang="en-US" sz="1800" dirty="0"/>
          </a:p>
        </p:txBody>
      </p:sp>
      <p:sp>
        <p:nvSpPr>
          <p:cNvPr id="6" name="Shape 4"/>
          <p:cNvSpPr/>
          <p:nvPr/>
        </p:nvSpPr>
        <p:spPr>
          <a:xfrm>
            <a:off x="6217920" y="1463040"/>
            <a:ext cx="5394960" cy="4023360"/>
          </a:xfrm>
          <a:prstGeom prst="rect">
            <a:avLst/>
          </a:prstGeom>
          <a:solidFill>
            <a:srgbClr val="EEF2F7"/>
          </a:solidFill>
          <a:ln w="12700">
            <a:solidFill>
              <a:srgbClr val="EEF2F7"/>
            </a:solidFill>
            <a:prstDash val="solid"/>
          </a:ln>
        </p:spPr>
      </p:sp>
      <p:sp>
        <p:nvSpPr>
          <p:cNvPr id="7" name="Text 5"/>
          <p:cNvSpPr txBox="1"/>
          <p:nvPr/>
        </p:nvSpPr>
        <p:spPr>
          <a:xfrm>
            <a:off x="6446520" y="1645920"/>
            <a:ext cx="49377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How the agent sees it</a:t>
            </a:r>
            <a:endParaRPr lang="en-US" sz="1800" dirty="0"/>
          </a:p>
        </p:txBody>
      </p:sp>
      <p:sp>
        <p:nvSpPr>
          <p:cNvPr id="8" name="Text 6"/>
          <p:cNvSpPr txBox="1"/>
          <p:nvPr/>
        </p:nvSpPr>
        <p:spPr>
          <a:xfrm>
            <a:off x="6446520" y="219456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800" b="1" dirty="0">
                <a:solidFill>
                  <a:srgbClr val="1B1F24"/>
                </a:solidFill>
                <a:latin typeface="Calibri" pitchFamily="34" charset="0"/>
                <a:ea typeface="Calibri" pitchFamily="34" charset="-122"/>
                <a:cs typeface="Calibri" pitchFamily="34" charset="-120"/>
              </a:rPr>
              <a:t>State: 3 input planes of 12×12</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own stones · opponent stones · empty points</a:t>
            </a:r>
            <a:endParaRPr lang="en-US" sz="1800" dirty="0"/>
          </a:p>
          <a:p>
            <a:pPr marL="342900" indent="-342900">
              <a:spcAft>
                <a:spcPts val="800"/>
              </a:spcAft>
              <a:buSzPct val="100000"/>
              <a:buChar char="•"/>
            </a:pPr>
            <a:r>
              <a:rPr lang="en-US" sz="1800" b="1" dirty="0">
                <a:solidFill>
                  <a:srgbClr val="1B1F24"/>
                </a:solidFill>
                <a:latin typeface="Calibri" pitchFamily="34" charset="0"/>
                <a:ea typeface="Calibri" pitchFamily="34" charset="-122"/>
                <a:cs typeface="Calibri" pitchFamily="34" charset="-120"/>
              </a:rPr>
              <a:t>Action: 145 choices</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144 board points plus pass</a:t>
            </a:r>
            <a:endParaRPr lang="en-US" sz="1800" dirty="0"/>
          </a:p>
          <a:p>
            <a:pPr marL="342900" indent="-342900">
              <a:spcAft>
                <a:spcPts val="800"/>
              </a:spcAft>
              <a:buSzPct val="100000"/>
              <a:buChar char="•"/>
            </a:pPr>
            <a:r>
              <a:rPr lang="en-US" sz="1800" b="1" dirty="0">
                <a:solidFill>
                  <a:srgbClr val="1B1F24"/>
                </a:solidFill>
                <a:latin typeface="Calibri" pitchFamily="34" charset="0"/>
                <a:ea typeface="Calibri" pitchFamily="34" charset="-122"/>
                <a:cs typeface="Calibri" pitchFamily="34" charset="-120"/>
              </a:rPr>
              <a:t>Reward: only at the end of the game</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+1 win, −1 loss, 0 draw</a:t>
            </a:r>
            <a:endParaRPr lang="en-US" sz="18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1: dual-head residual network</a:t>
            </a:r>
            <a:endParaRPr lang="en-US" sz="3200" dirty="0"/>
          </a:p>
        </p:txBody>
      </p:sp>
      <p:sp>
        <p:nvSpPr>
          <p:cNvPr id="3" name="Shape 1"/>
          <p:cNvSpPr/>
          <p:nvPr/>
        </p:nvSpPr>
        <p:spPr>
          <a:xfrm>
            <a:off x="548640" y="2651760"/>
            <a:ext cx="1737360" cy="1097280"/>
          </a:xfrm>
          <a:prstGeom prst="roundRect">
            <a:avLst>
              <a:gd name="adj" fmla="val 6667"/>
            </a:avLst>
          </a:prstGeom>
          <a:solidFill>
            <a:srgbClr val="EEF2F7"/>
          </a:solidFill>
          <a:ln w="12700">
            <a:solidFill>
              <a:srgbClr val="EEF2F7"/>
            </a:solidFill>
            <a:prstDash val="solid"/>
          </a:ln>
        </p:spPr>
      </p:sp>
      <p:sp>
        <p:nvSpPr>
          <p:cNvPr id="4" name="Text 2"/>
          <p:cNvSpPr txBox="1"/>
          <p:nvPr/>
        </p:nvSpPr>
        <p:spPr>
          <a:xfrm>
            <a:off x="640080" y="2651760"/>
            <a:ext cx="1554480" cy="1097280"/>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Input</a:t>
            </a:r>
            <a:endParaRPr lang="en-US" sz="1500" dirty="0"/>
          </a:p>
          <a:p>
            <a:pPr algn="ctr" indent="0" marL="0">
              <a:buNone/>
            </a:pPr>
            <a:r>
              <a:rPr lang="en-US" sz="1500" b="1" dirty="0">
                <a:solidFill>
                  <a:srgbClr val="1B1F24"/>
                </a:solidFill>
                <a:latin typeface="Calibri" pitchFamily="34" charset="0"/>
                <a:ea typeface="Calibri" pitchFamily="34" charset="-122"/>
                <a:cs typeface="Calibri" pitchFamily="34" charset="-120"/>
              </a:rPr>
              <a:t>3 × 12 × 12</a:t>
            </a:r>
            <a:endParaRPr lang="en-US" sz="1500" dirty="0"/>
          </a:p>
        </p:txBody>
      </p:sp>
      <p:sp>
        <p:nvSpPr>
          <p:cNvPr id="5" name="Shape 3"/>
          <p:cNvSpPr/>
          <p:nvPr/>
        </p:nvSpPr>
        <p:spPr>
          <a:xfrm>
            <a:off x="2331720" y="3200400"/>
            <a:ext cx="365760" cy="0"/>
          </a:xfrm>
          <a:prstGeom prst="line">
            <a:avLst/>
          </a:prstGeom>
          <a:noFill/>
          <a:ln w="25400">
            <a:solidFill>
              <a:srgbClr val="5A6472"/>
            </a:solidFill>
            <a:prstDash val="solid"/>
            <a:tailEnd type="triangle"/>
          </a:ln>
        </p:spPr>
      </p:sp>
      <p:sp>
        <p:nvSpPr>
          <p:cNvPr id="6" name="Shape 4"/>
          <p:cNvSpPr/>
          <p:nvPr/>
        </p:nvSpPr>
        <p:spPr>
          <a:xfrm>
            <a:off x="2743200" y="2651760"/>
            <a:ext cx="1828800" cy="1097280"/>
          </a:xfrm>
          <a:prstGeom prst="roundRect">
            <a:avLst>
              <a:gd name="adj" fmla="val 6667"/>
            </a:avLst>
          </a:prstGeom>
          <a:solidFill>
            <a:srgbClr val="EEF2F7"/>
          </a:solidFill>
          <a:ln w="12700">
            <a:solidFill>
              <a:srgbClr val="EEF2F7"/>
            </a:solidFill>
            <a:prstDash val="solid"/>
          </a:ln>
        </p:spPr>
      </p:sp>
      <p:sp>
        <p:nvSpPr>
          <p:cNvPr id="7" name="Text 5"/>
          <p:cNvSpPr txBox="1"/>
          <p:nvPr/>
        </p:nvSpPr>
        <p:spPr>
          <a:xfrm>
            <a:off x="2834640" y="2651760"/>
            <a:ext cx="1645920" cy="1097280"/>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Conv 3×3, 64</a:t>
            </a:r>
            <a:endParaRPr lang="en-US" sz="1500" dirty="0"/>
          </a:p>
          <a:p>
            <a:pPr algn="ctr" indent="0" marL="0">
              <a:buNone/>
            </a:pPr>
            <a:r>
              <a:rPr lang="en-US" sz="1500" b="1" dirty="0">
                <a:solidFill>
                  <a:srgbClr val="1B1F24"/>
                </a:solidFill>
                <a:latin typeface="Calibri" pitchFamily="34" charset="0"/>
                <a:ea typeface="Calibri" pitchFamily="34" charset="-122"/>
                <a:cs typeface="Calibri" pitchFamily="34" charset="-120"/>
              </a:rPr>
              <a:t>BatchNorm, ReLU</a:t>
            </a:r>
            <a:endParaRPr lang="en-US" sz="1500" dirty="0"/>
          </a:p>
        </p:txBody>
      </p:sp>
      <p:sp>
        <p:nvSpPr>
          <p:cNvPr id="8" name="Shape 6"/>
          <p:cNvSpPr/>
          <p:nvPr/>
        </p:nvSpPr>
        <p:spPr>
          <a:xfrm>
            <a:off x="4617720" y="3200400"/>
            <a:ext cx="365760" cy="0"/>
          </a:xfrm>
          <a:prstGeom prst="line">
            <a:avLst/>
          </a:prstGeom>
          <a:noFill/>
          <a:ln w="25400">
            <a:solidFill>
              <a:srgbClr val="5A6472"/>
            </a:solidFill>
            <a:prstDash val="solid"/>
            <a:tailEnd type="triangle"/>
          </a:ln>
        </p:spPr>
      </p:sp>
      <p:sp>
        <p:nvSpPr>
          <p:cNvPr id="9" name="Shape 7"/>
          <p:cNvSpPr/>
          <p:nvPr/>
        </p:nvSpPr>
        <p:spPr>
          <a:xfrm>
            <a:off x="5029200" y="2651760"/>
            <a:ext cx="2011680" cy="1097280"/>
          </a:xfrm>
          <a:prstGeom prst="roundRect">
            <a:avLst>
              <a:gd name="adj" fmla="val 6667"/>
            </a:avLst>
          </a:prstGeom>
          <a:solidFill>
            <a:srgbClr val="1F3A5F"/>
          </a:solidFill>
          <a:ln w="12700">
            <a:solidFill>
              <a:srgbClr val="1F3A5F"/>
            </a:solidFill>
            <a:prstDash val="solid"/>
          </a:ln>
        </p:spPr>
      </p:sp>
      <p:sp>
        <p:nvSpPr>
          <p:cNvPr id="10" name="Text 8"/>
          <p:cNvSpPr txBox="1"/>
          <p:nvPr/>
        </p:nvSpPr>
        <p:spPr>
          <a:xfrm>
            <a:off x="5120640" y="2651760"/>
            <a:ext cx="182880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 residual</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blocks (64 ch)</a:t>
            </a:r>
            <a:endParaRPr lang="en-US" sz="1500" dirty="0"/>
          </a:p>
        </p:txBody>
      </p:sp>
      <p:sp>
        <p:nvSpPr>
          <p:cNvPr id="11" name="Shape 9"/>
          <p:cNvSpPr/>
          <p:nvPr/>
        </p:nvSpPr>
        <p:spPr>
          <a:xfrm flipV="1">
            <a:off x="7086600" y="2240280"/>
            <a:ext cx="548640" cy="685800"/>
          </a:xfrm>
          <a:prstGeom prst="line">
            <a:avLst/>
          </a:prstGeom>
          <a:noFill/>
          <a:ln w="25400">
            <a:solidFill>
              <a:srgbClr val="5A6472"/>
            </a:solidFill>
            <a:prstDash val="solid"/>
            <a:tailEnd type="triangle"/>
          </a:ln>
        </p:spPr>
      </p:sp>
      <p:sp>
        <p:nvSpPr>
          <p:cNvPr id="12" name="Shape 10"/>
          <p:cNvSpPr/>
          <p:nvPr/>
        </p:nvSpPr>
        <p:spPr>
          <a:xfrm>
            <a:off x="7086600" y="3474720"/>
            <a:ext cx="548640" cy="685800"/>
          </a:xfrm>
          <a:prstGeom prst="line">
            <a:avLst/>
          </a:prstGeom>
          <a:noFill/>
          <a:ln w="25400">
            <a:solidFill>
              <a:srgbClr val="5A6472"/>
            </a:solidFill>
            <a:prstDash val="solid"/>
            <a:tailEnd type="triangle"/>
          </a:ln>
        </p:spPr>
      </p:sp>
      <p:sp>
        <p:nvSpPr>
          <p:cNvPr id="13" name="Shape 11"/>
          <p:cNvSpPr/>
          <p:nvPr/>
        </p:nvSpPr>
        <p:spPr>
          <a:xfrm>
            <a:off x="7680960" y="1600200"/>
            <a:ext cx="3931920" cy="1005840"/>
          </a:xfrm>
          <a:prstGeom prst="roundRect">
            <a:avLst>
              <a:gd name="adj" fmla="val 7273"/>
            </a:avLst>
          </a:prstGeom>
          <a:solidFill>
            <a:srgbClr val="C8862A"/>
          </a:solidFill>
          <a:ln w="12700">
            <a:solidFill>
              <a:srgbClr val="C8862A"/>
            </a:solidFill>
            <a:prstDash val="solid"/>
          </a:ln>
        </p:spPr>
      </p:sp>
      <p:sp>
        <p:nvSpPr>
          <p:cNvPr id="14" name="Text 12"/>
          <p:cNvSpPr txBox="1"/>
          <p:nvPr/>
        </p:nvSpPr>
        <p:spPr>
          <a:xfrm>
            <a:off x="7772400" y="1600200"/>
            <a:ext cx="374904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Policy head → softmax</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p: 145 move probabilities</a:t>
            </a:r>
            <a:endParaRPr lang="en-US" sz="1500" dirty="0"/>
          </a:p>
        </p:txBody>
      </p:sp>
      <p:sp>
        <p:nvSpPr>
          <p:cNvPr id="15" name="Shape 13"/>
          <p:cNvSpPr/>
          <p:nvPr/>
        </p:nvSpPr>
        <p:spPr>
          <a:xfrm>
            <a:off x="7680960" y="3794760"/>
            <a:ext cx="3931920" cy="1005840"/>
          </a:xfrm>
          <a:prstGeom prst="roundRect">
            <a:avLst>
              <a:gd name="adj" fmla="val 7273"/>
            </a:avLst>
          </a:prstGeom>
          <a:solidFill>
            <a:srgbClr val="2E7D6B"/>
          </a:solidFill>
          <a:ln w="12700">
            <a:solidFill>
              <a:srgbClr val="2E7D6B"/>
            </a:solidFill>
            <a:prstDash val="solid"/>
          </a:ln>
        </p:spPr>
      </p:sp>
      <p:sp>
        <p:nvSpPr>
          <p:cNvPr id="16" name="Text 14"/>
          <p:cNvSpPr txBox="1"/>
          <p:nvPr/>
        </p:nvSpPr>
        <p:spPr>
          <a:xfrm>
            <a:off x="7772400" y="3794760"/>
            <a:ext cx="374904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Value head → tanh</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 ∈ [−1, 1]: expected outcome</a:t>
            </a:r>
            <a:endParaRPr lang="en-US" sz="1500" dirty="0"/>
          </a:p>
        </p:txBody>
      </p:sp>
      <p:sp>
        <p:nvSpPr>
          <p:cNvPr id="17" name="Text 15"/>
          <p:cNvSpPr txBox="1"/>
          <p:nvPr/>
        </p:nvSpPr>
        <p:spPr>
          <a:xfrm>
            <a:off x="548640" y="5074920"/>
            <a:ext cx="11064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One network replaces AlphaGo's separate policy and value networks.</a:t>
            </a:r>
            <a:endParaRPr lang="en-US" sz="1500" dirty="0"/>
          </a:p>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Skip connections in residual blocks let a 10-block network train stably (He et al., 2016).</a:t>
            </a:r>
            <a:endParaRPr lang="en-US" sz="1500" dirty="0"/>
          </a:p>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793,144 trainable parameters, about 3.2 MB per saved model.</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2: Monte Carlo Tree Search with PUCT</a:t>
            </a:r>
            <a:endParaRPr lang="en-US" sz="3200" dirty="0"/>
          </a:p>
        </p:txBody>
      </p:sp>
      <p:sp>
        <p:nvSpPr>
          <p:cNvPr id="3" name="Shape 1"/>
          <p:cNvSpPr/>
          <p:nvPr/>
        </p:nvSpPr>
        <p:spPr>
          <a:xfrm>
            <a:off x="548640" y="1417320"/>
            <a:ext cx="11064240" cy="1051560"/>
          </a:xfrm>
          <a:prstGeom prst="rect">
            <a:avLst/>
          </a:prstGeom>
          <a:solidFill>
            <a:srgbClr val="FBF3E6"/>
          </a:solidFill>
          <a:ln w="12700">
            <a:solidFill>
              <a:srgbClr val="FBF3E6"/>
            </a:solidFill>
            <a:prstDash val="solid"/>
          </a:ln>
        </p:spPr>
      </p:sp>
      <p:sp>
        <p:nvSpPr>
          <p:cNvPr id="4" name="Text 2"/>
          <p:cNvSpPr txBox="1"/>
          <p:nvPr/>
        </p:nvSpPr>
        <p:spPr>
          <a:xfrm>
            <a:off x="822960" y="1554480"/>
            <a:ext cx="10515600" cy="457200"/>
          </a:xfrm>
          <a:prstGeom prst="rect">
            <a:avLst/>
          </a:prstGeom>
          <a:noFill/>
          <a:ln/>
        </p:spPr>
        <p:txBody>
          <a:bodyPr wrap="square" lIns="0" tIns="0" rIns="0" bIns="0" rtlCol="0" anchor="t"/>
          <a:lstStyle/>
          <a:p>
            <a:pPr indent="0" marL="0">
              <a:buNone/>
            </a:pPr>
            <a:r>
              <a:rPr lang="en-US" sz="2200" b="1" dirty="0">
                <a:solidFill>
                  <a:srgbClr val="1B1F24"/>
                </a:solidFill>
                <a:latin typeface="Cambria" pitchFamily="34" charset="0"/>
                <a:ea typeface="Cambria" pitchFamily="34" charset="-122"/>
                <a:cs typeface="Cambria" pitchFamily="34" charset="-120"/>
              </a:rPr>
              <a:t>a* = argmax  [ Q(s,a) + c_puct · P(s,a) · √N(s) / (1 + N(s,a)) ]</a:t>
            </a:r>
            <a:endParaRPr lang="en-US" sz="2200" dirty="0"/>
          </a:p>
        </p:txBody>
      </p:sp>
      <p:sp>
        <p:nvSpPr>
          <p:cNvPr id="5" name="Text 3"/>
          <p:cNvSpPr txBox="1"/>
          <p:nvPr/>
        </p:nvSpPr>
        <p:spPr>
          <a:xfrm>
            <a:off x="822960" y="2011680"/>
            <a:ext cx="10515600" cy="365760"/>
          </a:xfrm>
          <a:prstGeom prst="rect">
            <a:avLst/>
          </a:prstGeom>
          <a:noFill/>
          <a:ln/>
        </p:spPr>
        <p:txBody>
          <a:bodyPr wrap="square" lIns="0" tIns="0" rIns="0" bIns="0" rtlCol="0" anchor="t"/>
          <a:lstStyle/>
          <a:p>
            <a:pPr indent="0" marL="0">
              <a:buNone/>
            </a:pPr>
            <a:r>
              <a:rPr lang="en-US" sz="1400" dirty="0">
                <a:solidFill>
                  <a:srgbClr val="5A6472"/>
                </a:solidFill>
                <a:latin typeface="Calibri" pitchFamily="34" charset="0"/>
                <a:ea typeface="Calibri" pitchFamily="34" charset="-122"/>
                <a:cs typeface="Calibri" pitchFamily="34" charset="-120"/>
              </a:rPr>
              <a:t>Q = average value found so far · P = network prior · N = visit counts · c_puct = 1.5</a:t>
            </a:r>
            <a:endParaRPr lang="en-US" sz="1400" dirty="0"/>
          </a:p>
        </p:txBody>
      </p:sp>
      <p:sp>
        <p:nvSpPr>
          <p:cNvPr id="6" name="Shape 4"/>
          <p:cNvSpPr/>
          <p:nvPr/>
        </p:nvSpPr>
        <p:spPr>
          <a:xfrm>
            <a:off x="548640" y="2743200"/>
            <a:ext cx="2615184" cy="2697480"/>
          </a:xfrm>
          <a:prstGeom prst="rect">
            <a:avLst/>
          </a:prstGeom>
          <a:solidFill>
            <a:srgbClr val="EEF2F7"/>
          </a:solidFill>
          <a:ln w="12700">
            <a:solidFill>
              <a:srgbClr val="EEF2F7"/>
            </a:solidFill>
            <a:prstDash val="solid"/>
          </a:ln>
        </p:spPr>
      </p:sp>
      <p:sp>
        <p:nvSpPr>
          <p:cNvPr id="7" name="Text 5"/>
          <p:cNvSpPr txBox="1"/>
          <p:nvPr/>
        </p:nvSpPr>
        <p:spPr>
          <a:xfrm>
            <a:off x="777240" y="2926080"/>
            <a:ext cx="2157984"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1. Select</a:t>
            </a:r>
            <a:endParaRPr lang="en-US" sz="1800" dirty="0"/>
          </a:p>
        </p:txBody>
      </p:sp>
      <p:sp>
        <p:nvSpPr>
          <p:cNvPr id="8" name="Text 6"/>
          <p:cNvSpPr txBox="1"/>
          <p:nvPr/>
        </p:nvSpPr>
        <p:spPr>
          <a:xfrm>
            <a:off x="777240" y="3474720"/>
            <a:ext cx="2157984" cy="17830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From the root, follow the child with the highest PUCT score until reaching a leaf.</a:t>
            </a:r>
            <a:endParaRPr lang="en-US" sz="1400" dirty="0"/>
          </a:p>
        </p:txBody>
      </p:sp>
      <p:sp>
        <p:nvSpPr>
          <p:cNvPr id="9" name="Shape 7"/>
          <p:cNvSpPr/>
          <p:nvPr/>
        </p:nvSpPr>
        <p:spPr>
          <a:xfrm>
            <a:off x="3364992" y="2743200"/>
            <a:ext cx="2615184" cy="2697480"/>
          </a:xfrm>
          <a:prstGeom prst="rect">
            <a:avLst/>
          </a:prstGeom>
          <a:solidFill>
            <a:srgbClr val="EEF2F7"/>
          </a:solidFill>
          <a:ln w="12700">
            <a:solidFill>
              <a:srgbClr val="EEF2F7"/>
            </a:solidFill>
            <a:prstDash val="solid"/>
          </a:ln>
        </p:spPr>
      </p:sp>
      <p:sp>
        <p:nvSpPr>
          <p:cNvPr id="10" name="Text 8"/>
          <p:cNvSpPr txBox="1"/>
          <p:nvPr/>
        </p:nvSpPr>
        <p:spPr>
          <a:xfrm>
            <a:off x="3593592" y="2926080"/>
            <a:ext cx="2157984"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2. Evaluate</a:t>
            </a:r>
            <a:endParaRPr lang="en-US" sz="1800" dirty="0"/>
          </a:p>
        </p:txBody>
      </p:sp>
      <p:sp>
        <p:nvSpPr>
          <p:cNvPr id="11" name="Text 9"/>
          <p:cNvSpPr txBox="1"/>
          <p:nvPr/>
        </p:nvSpPr>
        <p:spPr>
          <a:xfrm>
            <a:off x="3593592" y="3474720"/>
            <a:ext cx="2157984" cy="17830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Expand the leaf and run the network on the leaf: priors P for each child and value v for the position.</a:t>
            </a:r>
            <a:endParaRPr lang="en-US" sz="1400" dirty="0"/>
          </a:p>
        </p:txBody>
      </p:sp>
      <p:sp>
        <p:nvSpPr>
          <p:cNvPr id="12" name="Shape 10"/>
          <p:cNvSpPr/>
          <p:nvPr/>
        </p:nvSpPr>
        <p:spPr>
          <a:xfrm>
            <a:off x="6181344" y="2743200"/>
            <a:ext cx="2615184" cy="2697480"/>
          </a:xfrm>
          <a:prstGeom prst="rect">
            <a:avLst/>
          </a:prstGeom>
          <a:solidFill>
            <a:srgbClr val="EEF2F7"/>
          </a:solidFill>
          <a:ln w="12700">
            <a:solidFill>
              <a:srgbClr val="EEF2F7"/>
            </a:solidFill>
            <a:prstDash val="solid"/>
          </a:ln>
        </p:spPr>
      </p:sp>
      <p:sp>
        <p:nvSpPr>
          <p:cNvPr id="13" name="Text 11"/>
          <p:cNvSpPr txBox="1"/>
          <p:nvPr/>
        </p:nvSpPr>
        <p:spPr>
          <a:xfrm>
            <a:off x="6409944" y="2926080"/>
            <a:ext cx="2157984"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3. Back up</a:t>
            </a:r>
            <a:endParaRPr lang="en-US" sz="1800" dirty="0"/>
          </a:p>
        </p:txBody>
      </p:sp>
      <p:sp>
        <p:nvSpPr>
          <p:cNvPr id="14" name="Text 12"/>
          <p:cNvSpPr txBox="1"/>
          <p:nvPr/>
        </p:nvSpPr>
        <p:spPr>
          <a:xfrm>
            <a:off x="6409944" y="3474720"/>
            <a:ext cx="2157984" cy="17830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Add v to every node on the path, flipping its sign at each ply so each node scores for the player who moved.</a:t>
            </a:r>
            <a:endParaRPr lang="en-US" sz="1400" dirty="0"/>
          </a:p>
        </p:txBody>
      </p:sp>
      <p:sp>
        <p:nvSpPr>
          <p:cNvPr id="15" name="Shape 13"/>
          <p:cNvSpPr/>
          <p:nvPr/>
        </p:nvSpPr>
        <p:spPr>
          <a:xfrm>
            <a:off x="8997696" y="2743200"/>
            <a:ext cx="2615184" cy="2697480"/>
          </a:xfrm>
          <a:prstGeom prst="rect">
            <a:avLst/>
          </a:prstGeom>
          <a:solidFill>
            <a:srgbClr val="EEF2F7"/>
          </a:solidFill>
          <a:ln w="12700">
            <a:solidFill>
              <a:srgbClr val="EEF2F7"/>
            </a:solidFill>
            <a:prstDash val="solid"/>
          </a:ln>
        </p:spPr>
      </p:sp>
      <p:sp>
        <p:nvSpPr>
          <p:cNvPr id="16" name="Text 14"/>
          <p:cNvSpPr txBox="1"/>
          <p:nvPr/>
        </p:nvSpPr>
        <p:spPr>
          <a:xfrm>
            <a:off x="9226296" y="2926080"/>
            <a:ext cx="2157984"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4. Act</a:t>
            </a:r>
            <a:endParaRPr lang="en-US" sz="1800" dirty="0"/>
          </a:p>
        </p:txBody>
      </p:sp>
      <p:sp>
        <p:nvSpPr>
          <p:cNvPr id="17" name="Text 15"/>
          <p:cNvSpPr txBox="1"/>
          <p:nvPr/>
        </p:nvSpPr>
        <p:spPr>
          <a:xfrm>
            <a:off x="9226296" y="3474720"/>
            <a:ext cx="2157984" cy="17830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After all simulations, choose the move from root visit counts, not raw network output.</a:t>
            </a:r>
            <a:endParaRPr lang="en-US" sz="1400" dirty="0"/>
          </a:p>
        </p:txBody>
      </p:sp>
      <p:sp>
        <p:nvSpPr>
          <p:cNvPr id="18" name="Text 16"/>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500" i="1" dirty="0">
                <a:solidFill>
                  <a:srgbClr val="5A6472"/>
                </a:solidFill>
                <a:latin typeface="Calibri" pitchFamily="34" charset="0"/>
                <a:ea typeface="Calibri" pitchFamily="34" charset="-122"/>
                <a:cs typeface="Calibri" pitchFamily="34" charset="-120"/>
              </a:rPr>
              <a:t>Simulations per move grow with the curriculum: 35 → 50 → 80 → 100.</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3: exploration controls</a:t>
            </a:r>
            <a:endParaRPr lang="en-US" sz="3200" dirty="0"/>
          </a:p>
        </p:txBody>
      </p:sp>
      <p:sp>
        <p:nvSpPr>
          <p:cNvPr id="3" name="Shape 1"/>
          <p:cNvSpPr/>
          <p:nvPr/>
        </p:nvSpPr>
        <p:spPr>
          <a:xfrm>
            <a:off x="548640" y="1463040"/>
            <a:ext cx="3566160" cy="3108960"/>
          </a:xfrm>
          <a:prstGeom prst="rect">
            <a:avLst/>
          </a:prstGeom>
          <a:solidFill>
            <a:srgbClr val="EEF2F7"/>
          </a:solidFill>
          <a:ln w="12700">
            <a:solidFill>
              <a:srgbClr val="EEF2F7"/>
            </a:solidFill>
            <a:prstDash val="solid"/>
          </a:ln>
        </p:spPr>
      </p:sp>
      <p:sp>
        <p:nvSpPr>
          <p:cNvPr id="4" name="Text 2"/>
          <p:cNvSpPr txBox="1"/>
          <p:nvPr/>
        </p:nvSpPr>
        <p:spPr>
          <a:xfrm>
            <a:off x="77724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Dirichlet noise</a:t>
            </a:r>
            <a:endParaRPr lang="en-US" sz="1800" dirty="0"/>
          </a:p>
        </p:txBody>
      </p:sp>
      <p:sp>
        <p:nvSpPr>
          <p:cNvPr id="5" name="Text 3"/>
          <p:cNvSpPr txBox="1"/>
          <p:nvPr/>
        </p:nvSpPr>
        <p:spPr>
          <a:xfrm>
            <a:off x="777240" y="2194560"/>
            <a:ext cx="3108960" cy="219456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At the root during self-play, priors are mixed with noise:</a:t>
            </a:r>
            <a:endParaRPr lang="en-US" sz="1500" dirty="0"/>
          </a:p>
          <a:p>
            <a:pPr indent="0" marL="0">
              <a:buNone/>
            </a:pPr>
            <a:r>
              <a:rPr lang="en-US" sz="1500" dirty="0">
                <a:solidFill>
                  <a:srgbClr val="1B1F24"/>
                </a:solidFill>
                <a:latin typeface="Calibri" pitchFamily="34" charset="0"/>
                <a:ea typeface="Calibri" pitchFamily="34" charset="-122"/>
                <a:cs typeface="Calibri" pitchFamily="34" charset="-120"/>
              </a:rPr>
              <a:t>P′ = 0.75·P + 0.25·η,  η ~ Dir(α)</a:t>
            </a:r>
            <a:endParaRPr lang="en-US" sz="1500" dirty="0"/>
          </a:p>
          <a:p>
            <a:pPr indent="0" marL="0">
              <a:buNone/>
            </a:pPr>
            <a:r>
              <a:rPr lang="en-US" sz="1500" dirty="0">
                <a:solidFill>
                  <a:srgbClr val="1B1F24"/>
                </a:solidFill>
                <a:latin typeface="Calibri" pitchFamily="34" charset="0"/>
                <a:ea typeface="Calibri" pitchFamily="34" charset="-122"/>
                <a:cs typeface="Calibri" pitchFamily="34" charset="-120"/>
              </a:rPr>
              <a:t>α = 10 / 144 ≈ 0.069, scaled to board size as in the paper.</a:t>
            </a:r>
            <a:endParaRPr lang="en-US" sz="1500" dirty="0"/>
          </a:p>
        </p:txBody>
      </p:sp>
      <p:sp>
        <p:nvSpPr>
          <p:cNvPr id="6" name="Shape 4"/>
          <p:cNvSpPr/>
          <p:nvPr/>
        </p:nvSpPr>
        <p:spPr>
          <a:xfrm>
            <a:off x="4297680" y="1463040"/>
            <a:ext cx="3566160" cy="3108960"/>
          </a:xfrm>
          <a:prstGeom prst="rect">
            <a:avLst/>
          </a:prstGeom>
          <a:solidFill>
            <a:srgbClr val="EEF2F7"/>
          </a:solidFill>
          <a:ln w="12700">
            <a:solidFill>
              <a:srgbClr val="EEF2F7"/>
            </a:solidFill>
            <a:prstDash val="solid"/>
          </a:ln>
        </p:spPr>
      </p:sp>
      <p:sp>
        <p:nvSpPr>
          <p:cNvPr id="7" name="Text 5"/>
          <p:cNvSpPr txBox="1"/>
          <p:nvPr/>
        </p:nvSpPr>
        <p:spPr>
          <a:xfrm>
            <a:off x="452628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Temperature</a:t>
            </a:r>
            <a:endParaRPr lang="en-US" sz="1800" dirty="0"/>
          </a:p>
        </p:txBody>
      </p:sp>
      <p:sp>
        <p:nvSpPr>
          <p:cNvPr id="8" name="Text 6"/>
          <p:cNvSpPr txBox="1"/>
          <p:nvPr/>
        </p:nvSpPr>
        <p:spPr>
          <a:xfrm>
            <a:off x="4526280" y="2194560"/>
            <a:ext cx="3108960" cy="219456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Moves are sampled in proportion to visit counts (τ = 1) for the first 30 moves, then the most-visited move is played (τ → 0).</a:t>
            </a:r>
            <a:endParaRPr lang="en-US" sz="1500" dirty="0"/>
          </a:p>
        </p:txBody>
      </p:sp>
      <p:sp>
        <p:nvSpPr>
          <p:cNvPr id="9" name="Shape 7"/>
          <p:cNvSpPr/>
          <p:nvPr/>
        </p:nvSpPr>
        <p:spPr>
          <a:xfrm>
            <a:off x="8046720" y="1463040"/>
            <a:ext cx="3566160" cy="3108960"/>
          </a:xfrm>
          <a:prstGeom prst="rect">
            <a:avLst/>
          </a:prstGeom>
          <a:solidFill>
            <a:srgbClr val="EEF2F7"/>
          </a:solidFill>
          <a:ln w="12700">
            <a:solidFill>
              <a:srgbClr val="EEF2F7"/>
            </a:solidFill>
            <a:prstDash val="solid"/>
          </a:ln>
        </p:spPr>
      </p:sp>
      <p:sp>
        <p:nvSpPr>
          <p:cNvPr id="10" name="Text 8"/>
          <p:cNvSpPr txBox="1"/>
          <p:nvPr/>
        </p:nvSpPr>
        <p:spPr>
          <a:xfrm>
            <a:off x="827532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Exploration constant</a:t>
            </a:r>
            <a:endParaRPr lang="en-US" sz="1800" dirty="0"/>
          </a:p>
        </p:txBody>
      </p:sp>
      <p:sp>
        <p:nvSpPr>
          <p:cNvPr id="11" name="Text 9"/>
          <p:cNvSpPr txBox="1"/>
          <p:nvPr/>
        </p:nvSpPr>
        <p:spPr>
          <a:xfrm>
            <a:off x="8275320" y="2194560"/>
            <a:ext cx="3108960" cy="219456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c_puct = 1.5 sets how much search trusts the prior and visits unexplored moves before relying on measured values Q.</a:t>
            </a:r>
            <a:endParaRPr lang="en-US" sz="1500" dirty="0"/>
          </a:p>
        </p:txBody>
      </p:sp>
      <p:sp>
        <p:nvSpPr>
          <p:cNvPr id="12" name="Text 10"/>
          <p:cNvSpPr txBox="1"/>
          <p:nvPr/>
        </p:nvSpPr>
        <p:spPr>
          <a:xfrm>
            <a:off x="548640" y="4892040"/>
            <a:ext cx="11064240" cy="731520"/>
          </a:xfrm>
          <a:prstGeom prst="rect">
            <a:avLst/>
          </a:prstGeom>
          <a:noFill/>
          <a:ln/>
        </p:spPr>
        <p:txBody>
          <a:bodyPr wrap="square" lIns="0" tIns="0" rIns="0" bIns="0" rtlCol="0" anchor="t"/>
          <a:lstStyle/>
          <a:p>
            <a:pPr indent="0" marL="0">
              <a:buNone/>
            </a:pPr>
            <a:r>
              <a:rPr lang="en-US" sz="1700" i="1" dirty="0">
                <a:solidFill>
                  <a:srgbClr val="5A6472"/>
                </a:solidFill>
                <a:latin typeface="Calibri" pitchFamily="34" charset="0"/>
                <a:ea typeface="Calibri" pitchFamily="34" charset="-122"/>
                <a:cs typeface="Calibri" pitchFamily="34" charset="-120"/>
              </a:rPr>
              <a:t>Without these, self-play repeats the same games and the training data stops teaching the network anything new.</a:t>
            </a:r>
            <a:endParaRPr lang="en-US" sz="17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4: self-play data generation</a:t>
            </a:r>
            <a:endParaRPr lang="en-US" sz="3200" dirty="0"/>
          </a:p>
        </p:txBody>
      </p:sp>
      <p:sp>
        <p:nvSpPr>
          <p:cNvPr id="3" name="Text 1"/>
          <p:cNvSpPr txBox="1"/>
          <p:nvPr/>
        </p:nvSpPr>
        <p:spPr>
          <a:xfrm>
            <a:off x="548640" y="1508760"/>
            <a:ext cx="640080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18 worker processes play games in parallel on the CPU, each with its own random seed.</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Games are generated in batches of 25 and saved after each batch, so a stopped run resumes where it left off.</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Every position becomes one training example: (board planes, MCTS visit distribution π, final result z).</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Replay window: each iteration trains on its own games plus the previous iteration's games.</a:t>
            </a:r>
            <a:endParaRPr lang="en-US" sz="1700" dirty="0"/>
          </a:p>
        </p:txBody>
      </p:sp>
      <p:sp>
        <p:nvSpPr>
          <p:cNvPr id="4" name="Shape 2"/>
          <p:cNvSpPr/>
          <p:nvPr/>
        </p:nvSpPr>
        <p:spPr>
          <a:xfrm>
            <a:off x="7315200" y="1508760"/>
            <a:ext cx="4297680" cy="1298448"/>
          </a:xfrm>
          <a:prstGeom prst="rect">
            <a:avLst/>
          </a:prstGeom>
          <a:solidFill>
            <a:srgbClr val="EEF2F7"/>
          </a:solidFill>
          <a:ln w="12700">
            <a:solidFill>
              <a:srgbClr val="EEF2F7"/>
            </a:solidFill>
            <a:prstDash val="solid"/>
          </a:ln>
        </p:spPr>
      </p:sp>
      <p:sp>
        <p:nvSpPr>
          <p:cNvPr id="5" name="Text 3"/>
          <p:cNvSpPr txBox="1"/>
          <p:nvPr/>
        </p:nvSpPr>
        <p:spPr>
          <a:xfrm>
            <a:off x="7543800" y="1645920"/>
            <a:ext cx="3840480" cy="64008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1,000</a:t>
            </a:r>
            <a:endParaRPr lang="en-US" sz="3200" dirty="0"/>
          </a:p>
        </p:txBody>
      </p:sp>
      <p:sp>
        <p:nvSpPr>
          <p:cNvPr id="6" name="Text 4"/>
          <p:cNvSpPr txBox="1"/>
          <p:nvPr/>
        </p:nvSpPr>
        <p:spPr>
          <a:xfrm>
            <a:off x="7543800" y="2286000"/>
            <a:ext cx="3840480" cy="411480"/>
          </a:xfrm>
          <a:prstGeom prst="rect">
            <a:avLst/>
          </a:prstGeom>
          <a:noFill/>
          <a:ln/>
        </p:spPr>
        <p:txBody>
          <a:bodyPr wrap="square" lIns="0" tIns="0" rIns="0" bIns="0" rtlCol="0" anchor="t"/>
          <a:lstStyle/>
          <a:p>
            <a:pPr indent="0" marL="0">
              <a:buNone/>
            </a:pPr>
            <a:r>
              <a:rPr lang="en-US" sz="1400" dirty="0">
                <a:solidFill>
                  <a:srgbClr val="5A6472"/>
                </a:solidFill>
                <a:latin typeface="Calibri" pitchFamily="34" charset="0"/>
                <a:ea typeface="Calibri" pitchFamily="34" charset="-122"/>
                <a:cs typeface="Calibri" pitchFamily="34" charset="-120"/>
              </a:rPr>
              <a:t>games per stage 5 iteration</a:t>
            </a:r>
            <a:endParaRPr lang="en-US" sz="1400" dirty="0"/>
          </a:p>
        </p:txBody>
      </p:sp>
      <p:sp>
        <p:nvSpPr>
          <p:cNvPr id="7" name="Shape 5"/>
          <p:cNvSpPr/>
          <p:nvPr/>
        </p:nvSpPr>
        <p:spPr>
          <a:xfrm>
            <a:off x="7315200" y="2990088"/>
            <a:ext cx="4297680" cy="1298448"/>
          </a:xfrm>
          <a:prstGeom prst="rect">
            <a:avLst/>
          </a:prstGeom>
          <a:solidFill>
            <a:srgbClr val="EEF2F7"/>
          </a:solidFill>
          <a:ln w="12700">
            <a:solidFill>
              <a:srgbClr val="EEF2F7"/>
            </a:solidFill>
            <a:prstDash val="solid"/>
          </a:ln>
        </p:spPr>
      </p:sp>
      <p:sp>
        <p:nvSpPr>
          <p:cNvPr id="8" name="Text 6"/>
          <p:cNvSpPr txBox="1"/>
          <p:nvPr/>
        </p:nvSpPr>
        <p:spPr>
          <a:xfrm>
            <a:off x="7543800" y="3127248"/>
            <a:ext cx="3840480" cy="64008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≈222,000</a:t>
            </a:r>
            <a:endParaRPr lang="en-US" sz="3200" dirty="0"/>
          </a:p>
        </p:txBody>
      </p:sp>
      <p:sp>
        <p:nvSpPr>
          <p:cNvPr id="9" name="Text 7"/>
          <p:cNvSpPr txBox="1"/>
          <p:nvPr/>
        </p:nvSpPr>
        <p:spPr>
          <a:xfrm>
            <a:off x="7543800" y="3767328"/>
            <a:ext cx="3840480" cy="411480"/>
          </a:xfrm>
          <a:prstGeom prst="rect">
            <a:avLst/>
          </a:prstGeom>
          <a:noFill/>
          <a:ln/>
        </p:spPr>
        <p:txBody>
          <a:bodyPr wrap="square" lIns="0" tIns="0" rIns="0" bIns="0" rtlCol="0" anchor="t"/>
          <a:lstStyle/>
          <a:p>
            <a:pPr indent="0" marL="0">
              <a:buNone/>
            </a:pPr>
            <a:r>
              <a:rPr lang="en-US" sz="1400" dirty="0">
                <a:solidFill>
                  <a:srgbClr val="5A6472"/>
                </a:solidFill>
                <a:latin typeface="Calibri" pitchFamily="34" charset="0"/>
                <a:ea typeface="Calibri" pitchFamily="34" charset="-122"/>
                <a:cs typeface="Calibri" pitchFamily="34" charset="-120"/>
              </a:rPr>
              <a:t>new positions per stage 5 iteration</a:t>
            </a:r>
            <a:endParaRPr lang="en-US" sz="1400" dirty="0"/>
          </a:p>
        </p:txBody>
      </p:sp>
      <p:sp>
        <p:nvSpPr>
          <p:cNvPr id="10" name="Shape 8"/>
          <p:cNvSpPr/>
          <p:nvPr/>
        </p:nvSpPr>
        <p:spPr>
          <a:xfrm>
            <a:off x="7315200" y="4471416"/>
            <a:ext cx="4297680" cy="1298448"/>
          </a:xfrm>
          <a:prstGeom prst="rect">
            <a:avLst/>
          </a:prstGeom>
          <a:solidFill>
            <a:srgbClr val="EEF2F7"/>
          </a:solidFill>
          <a:ln w="12700">
            <a:solidFill>
              <a:srgbClr val="EEF2F7"/>
            </a:solidFill>
            <a:prstDash val="solid"/>
          </a:ln>
        </p:spPr>
      </p:sp>
      <p:sp>
        <p:nvSpPr>
          <p:cNvPr id="11" name="Text 9"/>
          <p:cNvSpPr txBox="1"/>
          <p:nvPr/>
        </p:nvSpPr>
        <p:spPr>
          <a:xfrm>
            <a:off x="7543800" y="4608576"/>
            <a:ext cx="3840480" cy="640080"/>
          </a:xfrm>
          <a:prstGeom prst="rect">
            <a:avLst/>
          </a:prstGeom>
          <a:noFill/>
          <a:ln/>
        </p:spPr>
        <p:txBody>
          <a:bodyPr wrap="square" lIns="0" tIns="0" rIns="0" bIns="0" rtlCol="0" anchor="t"/>
          <a:lstStyle/>
          <a:p>
            <a:pPr indent="0" marL="0">
              <a:buNone/>
            </a:pPr>
            <a:r>
              <a:rPr lang="en-US" sz="3200" b="1" dirty="0">
                <a:solidFill>
                  <a:srgbClr val="C8862A"/>
                </a:solidFill>
                <a:latin typeface="Cambria" pitchFamily="34" charset="0"/>
                <a:ea typeface="Cambria" pitchFamily="34" charset="-122"/>
                <a:cs typeface="Cambria" pitchFamily="34" charset="-120"/>
              </a:rPr>
              <a:t>446,449</a:t>
            </a:r>
            <a:endParaRPr lang="en-US" sz="3200" dirty="0"/>
          </a:p>
        </p:txBody>
      </p:sp>
      <p:sp>
        <p:nvSpPr>
          <p:cNvPr id="12" name="Text 10"/>
          <p:cNvSpPr txBox="1"/>
          <p:nvPr/>
        </p:nvSpPr>
        <p:spPr>
          <a:xfrm>
            <a:off x="7543800" y="5248656"/>
            <a:ext cx="3840480" cy="411480"/>
          </a:xfrm>
          <a:prstGeom prst="rect">
            <a:avLst/>
          </a:prstGeom>
          <a:noFill/>
          <a:ln/>
        </p:spPr>
        <p:txBody>
          <a:bodyPr wrap="square" lIns="0" tIns="0" rIns="0" bIns="0" rtlCol="0" anchor="t"/>
          <a:lstStyle/>
          <a:p>
            <a:pPr indent="0" marL="0">
              <a:buNone/>
            </a:pPr>
            <a:r>
              <a:rPr lang="en-US" sz="1400" dirty="0">
                <a:solidFill>
                  <a:srgbClr val="5A6472"/>
                </a:solidFill>
                <a:latin typeface="Calibri" pitchFamily="34" charset="0"/>
                <a:ea typeface="Calibri" pitchFamily="34" charset="-122"/>
                <a:cs typeface="Calibri" pitchFamily="34" charset="-120"/>
              </a:rPr>
              <a:t>positions in iteration 10 training set</a:t>
            </a:r>
            <a:endParaRPr lang="en-US" sz="14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5: training the network</a:t>
            </a:r>
            <a:endParaRPr lang="en-US" sz="3200" dirty="0"/>
          </a:p>
        </p:txBody>
      </p:sp>
      <p:sp>
        <p:nvSpPr>
          <p:cNvPr id="3" name="Shape 1"/>
          <p:cNvSpPr/>
          <p:nvPr/>
        </p:nvSpPr>
        <p:spPr>
          <a:xfrm>
            <a:off x="548640" y="1417320"/>
            <a:ext cx="11064240" cy="1188720"/>
          </a:xfrm>
          <a:prstGeom prst="rect">
            <a:avLst/>
          </a:prstGeom>
          <a:solidFill>
            <a:srgbClr val="FBF3E6"/>
          </a:solidFill>
          <a:ln w="12700">
            <a:solidFill>
              <a:srgbClr val="FBF3E6"/>
            </a:solidFill>
            <a:prstDash val="solid"/>
          </a:ln>
        </p:spPr>
      </p:sp>
      <p:sp>
        <p:nvSpPr>
          <p:cNvPr id="4" name="Text 2"/>
          <p:cNvSpPr txBox="1"/>
          <p:nvPr/>
        </p:nvSpPr>
        <p:spPr>
          <a:xfrm>
            <a:off x="822960" y="1554480"/>
            <a:ext cx="10515600" cy="548640"/>
          </a:xfrm>
          <a:prstGeom prst="rect">
            <a:avLst/>
          </a:prstGeom>
          <a:noFill/>
          <a:ln/>
        </p:spPr>
        <p:txBody>
          <a:bodyPr wrap="square" lIns="0" tIns="0" rIns="0" bIns="0" rtlCol="0" anchor="t"/>
          <a:lstStyle/>
          <a:p>
            <a:pPr algn="ctr" indent="0" marL="0">
              <a:buNone/>
            </a:pPr>
            <a:r>
              <a:rPr lang="en-US" sz="2600" b="1" dirty="0">
                <a:solidFill>
                  <a:srgbClr val="1B1F24"/>
                </a:solidFill>
                <a:latin typeface="Cambria" pitchFamily="34" charset="0"/>
                <a:ea typeface="Cambria" pitchFamily="34" charset="-122"/>
                <a:cs typeface="Cambria" pitchFamily="34" charset="-120"/>
              </a:rPr>
              <a:t>L = −Σ π · log p  +  (z − v)²  +  c‖θ‖²</a:t>
            </a:r>
            <a:endParaRPr lang="en-US" sz="2600" dirty="0"/>
          </a:p>
        </p:txBody>
      </p:sp>
      <p:sp>
        <p:nvSpPr>
          <p:cNvPr id="5" name="Text 3"/>
          <p:cNvSpPr txBox="1"/>
          <p:nvPr/>
        </p:nvSpPr>
        <p:spPr>
          <a:xfrm>
            <a:off x="822960" y="2103120"/>
            <a:ext cx="10515600" cy="365760"/>
          </a:xfrm>
          <a:prstGeom prst="rect">
            <a:avLst/>
          </a:prstGeom>
          <a:noFill/>
          <a:ln/>
        </p:spPr>
        <p:txBody>
          <a:bodyPr wrap="square" lIns="0" tIns="0" rIns="0" bIns="0" rtlCol="0" anchor="t"/>
          <a:lstStyle/>
          <a:p>
            <a:pPr algn="ctr" indent="0" marL="0">
              <a:buNone/>
            </a:pPr>
            <a:r>
              <a:rPr lang="en-US" sz="1400" dirty="0">
                <a:solidFill>
                  <a:srgbClr val="5A6472"/>
                </a:solidFill>
                <a:latin typeface="Calibri" pitchFamily="34" charset="0"/>
                <a:ea typeface="Calibri" pitchFamily="34" charset="-122"/>
                <a:cs typeface="Calibri" pitchFamily="34" charset="-120"/>
              </a:rPr>
              <a:t>policy cross-entropy against MCTS visits  +  value error against the game result  +  L2 regularisation</a:t>
            </a:r>
            <a:endParaRPr lang="en-US" sz="1400" dirty="0"/>
          </a:p>
        </p:txBody>
      </p:sp>
      <p:sp>
        <p:nvSpPr>
          <p:cNvPr id="6" name="Shape 4"/>
          <p:cNvSpPr/>
          <p:nvPr/>
        </p:nvSpPr>
        <p:spPr>
          <a:xfrm>
            <a:off x="548640" y="2880360"/>
            <a:ext cx="5394960" cy="2651760"/>
          </a:xfrm>
          <a:prstGeom prst="rect">
            <a:avLst/>
          </a:prstGeom>
          <a:solidFill>
            <a:srgbClr val="EEF2F7"/>
          </a:solidFill>
          <a:ln w="12700">
            <a:solidFill>
              <a:srgbClr val="EEF2F7"/>
            </a:solidFill>
            <a:prstDash val="solid"/>
          </a:ln>
        </p:spPr>
      </p:sp>
      <p:sp>
        <p:nvSpPr>
          <p:cNvPr id="7" name="Text 5"/>
          <p:cNvSpPr txBox="1"/>
          <p:nvPr/>
        </p:nvSpPr>
        <p:spPr>
          <a:xfrm>
            <a:off x="777240" y="3063240"/>
            <a:ext cx="49377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Optimiser settings</a:t>
            </a:r>
            <a:endParaRPr lang="en-US" sz="1800" dirty="0"/>
          </a:p>
        </p:txBody>
      </p:sp>
      <p:sp>
        <p:nvSpPr>
          <p:cNvPr id="8" name="Text 6"/>
          <p:cNvSpPr txBox="1"/>
          <p:nvPr/>
        </p:nvSpPr>
        <p:spPr>
          <a:xfrm>
            <a:off x="777240" y="3611880"/>
            <a:ext cx="493776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SGD with momentum 0.9</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Learning rate 0.001</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Weight decay (L2) 1e-4</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Mini-batch size 32</a:t>
            </a:r>
            <a:endParaRPr lang="en-US" sz="1700" dirty="0"/>
          </a:p>
        </p:txBody>
      </p:sp>
      <p:sp>
        <p:nvSpPr>
          <p:cNvPr id="9" name="Shape 7"/>
          <p:cNvSpPr/>
          <p:nvPr/>
        </p:nvSpPr>
        <p:spPr>
          <a:xfrm>
            <a:off x="6217920" y="2880360"/>
            <a:ext cx="5394960" cy="2651760"/>
          </a:xfrm>
          <a:prstGeom prst="rect">
            <a:avLst/>
          </a:prstGeom>
          <a:solidFill>
            <a:srgbClr val="EEF2F7"/>
          </a:solidFill>
          <a:ln w="12700">
            <a:solidFill>
              <a:srgbClr val="EEF2F7"/>
            </a:solidFill>
            <a:prstDash val="solid"/>
          </a:ln>
        </p:spPr>
      </p:sp>
      <p:sp>
        <p:nvSpPr>
          <p:cNvPr id="10" name="Text 8"/>
          <p:cNvSpPr txBox="1"/>
          <p:nvPr/>
        </p:nvSpPr>
        <p:spPr>
          <a:xfrm>
            <a:off x="6446520" y="3063240"/>
            <a:ext cx="49377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Schedule</a:t>
            </a:r>
            <a:endParaRPr lang="en-US" sz="1800" dirty="0"/>
          </a:p>
        </p:txBody>
      </p:sp>
      <p:sp>
        <p:nvSpPr>
          <p:cNvPr id="11" name="Text 9"/>
          <p:cNvSpPr txBox="1"/>
          <p:nvPr/>
        </p:nvSpPr>
        <p:spPr>
          <a:xfrm>
            <a:off x="6446520" y="3611880"/>
            <a:ext cx="493776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Warm-start from the current best model</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4 to 8 epochs per iteration, by stage</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Checkpoint after every epoch</a:t>
            </a:r>
            <a:endParaRPr lang="en-US" sz="1700" dirty="0"/>
          </a:p>
          <a:p>
            <a:pPr marL="342900" indent="-342900">
              <a:spcAft>
                <a:spcPts val="800"/>
              </a:spcAft>
              <a:buSzPct val="100000"/>
              <a:buChar char="•"/>
            </a:pPr>
            <a:r>
              <a:rPr lang="en-US" sz="1700" dirty="0">
                <a:solidFill>
                  <a:srgbClr val="1B1F24"/>
                </a:solidFill>
                <a:latin typeface="Calibri" pitchFamily="34" charset="0"/>
                <a:ea typeface="Calibri" pitchFamily="34" charset="-122"/>
                <a:cs typeface="Calibri" pitchFamily="34" charset="-120"/>
              </a:rPr>
              <a:t>Trained on the RTX 4050 laptop GPU</a:t>
            </a:r>
            <a:endParaRPr lang="en-US" sz="17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Algorithm 6: evaluation and promotion</a:t>
            </a:r>
            <a:endParaRPr lang="en-US" sz="3200" dirty="0"/>
          </a:p>
        </p:txBody>
      </p:sp>
      <p:sp>
        <p:nvSpPr>
          <p:cNvPr id="3" name="Shape 1"/>
          <p:cNvSpPr/>
          <p:nvPr/>
        </p:nvSpPr>
        <p:spPr>
          <a:xfrm>
            <a:off x="548640" y="1463040"/>
            <a:ext cx="5760720" cy="4572000"/>
          </a:xfrm>
          <a:prstGeom prst="rect">
            <a:avLst/>
          </a:prstGeom>
          <a:solidFill>
            <a:srgbClr val="EEF2F7"/>
          </a:solidFill>
          <a:ln w="12700">
            <a:solidFill>
              <a:srgbClr val="EEF2F7"/>
            </a:solidFill>
            <a:prstDash val="solid"/>
          </a:ln>
        </p:spPr>
      </p:sp>
      <p:sp>
        <p:nvSpPr>
          <p:cNvPr id="4" name="Text 2"/>
          <p:cNvSpPr txBox="1"/>
          <p:nvPr/>
        </p:nvSpPr>
        <p:spPr>
          <a:xfrm>
            <a:off x="777240" y="1645920"/>
            <a:ext cx="530352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Arena match</a:t>
            </a:r>
            <a:endParaRPr lang="en-US" sz="1800" dirty="0"/>
          </a:p>
        </p:txBody>
      </p:sp>
      <p:sp>
        <p:nvSpPr>
          <p:cNvPr id="5" name="Text 3"/>
          <p:cNvSpPr txBox="1"/>
          <p:nvPr/>
        </p:nvSpPr>
        <p:spPr>
          <a:xfrm>
            <a:off x="777240" y="2194560"/>
            <a:ext cx="5303520" cy="36576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Candidate plays the current best model</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Colours alternate every game</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First 8 moves sampled from visit counts, so games differ</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Games capped at 500 moves, scored by area</a:t>
            </a:r>
            <a:endParaRPr lang="en-US" sz="1800" dirty="0"/>
          </a:p>
          <a:p>
            <a:pPr marL="342900" indent="-342900">
              <a:spcAft>
                <a:spcPts val="800"/>
              </a:spcAft>
              <a:buSzPct val="100000"/>
              <a:buChar char="•"/>
            </a:pPr>
            <a:r>
              <a:rPr lang="en-US" sz="1800" dirty="0">
                <a:solidFill>
                  <a:srgbClr val="1B1F24"/>
                </a:solidFill>
                <a:latin typeface="Calibri" pitchFamily="34" charset="0"/>
                <a:ea typeface="Calibri" pitchFamily="34" charset="-122"/>
                <a:cs typeface="Calibri" pitchFamily="34" charset="-120"/>
              </a:rPr>
              <a:t>40 games per evaluation from iteration 8 onward (20 before)</a:t>
            </a:r>
            <a:endParaRPr lang="en-US" sz="1800" dirty="0"/>
          </a:p>
        </p:txBody>
      </p:sp>
      <p:sp>
        <p:nvSpPr>
          <p:cNvPr id="6" name="Shape 4"/>
          <p:cNvSpPr/>
          <p:nvPr/>
        </p:nvSpPr>
        <p:spPr>
          <a:xfrm>
            <a:off x="6583680" y="1463040"/>
            <a:ext cx="5029200" cy="2103120"/>
          </a:xfrm>
          <a:prstGeom prst="rect">
            <a:avLst/>
          </a:prstGeom>
          <a:solidFill>
            <a:srgbClr val="1F3A5F"/>
          </a:solidFill>
          <a:ln w="12700">
            <a:solidFill>
              <a:srgbClr val="1F3A5F"/>
            </a:solidFill>
            <a:prstDash val="solid"/>
          </a:ln>
        </p:spPr>
      </p:sp>
      <p:sp>
        <p:nvSpPr>
          <p:cNvPr id="7" name="Text 5"/>
          <p:cNvSpPr txBox="1"/>
          <p:nvPr/>
        </p:nvSpPr>
        <p:spPr>
          <a:xfrm>
            <a:off x="6812280" y="1645920"/>
            <a:ext cx="45720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 55%</a:t>
            </a:r>
            <a:endParaRPr lang="en-US" sz="4800" dirty="0"/>
          </a:p>
        </p:txBody>
      </p:sp>
      <p:sp>
        <p:nvSpPr>
          <p:cNvPr id="8" name="Text 6"/>
          <p:cNvSpPr txBox="1"/>
          <p:nvPr/>
        </p:nvSpPr>
        <p:spPr>
          <a:xfrm>
            <a:off x="6812280" y="2606040"/>
            <a:ext cx="4572000" cy="731520"/>
          </a:xfrm>
          <a:prstGeom prst="rect">
            <a:avLst/>
          </a:prstGeom>
          <a:noFill/>
          <a:ln/>
        </p:spPr>
        <p:txBody>
          <a:bodyPr wrap="square" lIns="0" tIns="0" rIns="0" bIns="0" rtlCol="0" anchor="t"/>
          <a:lstStyle/>
          <a:p>
            <a:pPr indent="0" marL="0">
              <a:buNone/>
            </a:pPr>
            <a:r>
              <a:rPr lang="en-US" sz="1600" dirty="0">
                <a:solidFill>
                  <a:srgbClr val="D6DEEA"/>
                </a:solidFill>
                <a:latin typeface="Calibri" pitchFamily="34" charset="0"/>
                <a:ea typeface="Calibri" pitchFamily="34" charset="-122"/>
                <a:cs typeface="Calibri" pitchFamily="34" charset="-120"/>
              </a:rPr>
              <a:t>win rate needed to replace the best model</a:t>
            </a:r>
            <a:endParaRPr lang="en-US" sz="1600" dirty="0"/>
          </a:p>
        </p:txBody>
      </p:sp>
      <p:sp>
        <p:nvSpPr>
          <p:cNvPr id="9" name="Shape 7"/>
          <p:cNvSpPr/>
          <p:nvPr/>
        </p:nvSpPr>
        <p:spPr>
          <a:xfrm>
            <a:off x="6583680" y="3749040"/>
            <a:ext cx="5029200" cy="2286000"/>
          </a:xfrm>
          <a:prstGeom prst="rect">
            <a:avLst/>
          </a:prstGeom>
          <a:solidFill>
            <a:srgbClr val="EEF2F7"/>
          </a:solidFill>
          <a:ln w="12700">
            <a:solidFill>
              <a:srgbClr val="EEF2F7"/>
            </a:solidFill>
            <a:prstDash val="solid"/>
          </a:ln>
        </p:spPr>
      </p:sp>
      <p:sp>
        <p:nvSpPr>
          <p:cNvPr id="10" name="Text 8"/>
          <p:cNvSpPr txBox="1"/>
          <p:nvPr/>
        </p:nvSpPr>
        <p:spPr>
          <a:xfrm>
            <a:off x="6812280" y="3931920"/>
            <a:ext cx="4572000" cy="201168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With 40 games, the standard error of a measured win rate is about ±8 percentage points. A 50% result is not proof the candidate is weaker, only that it was not clearly stronger.</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Curriculum: four stages of growing difficulty</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914400"/>
                <a:gridCol w="1828800"/>
                <a:gridCol w="2103120"/>
                <a:gridCol w="2194560"/>
                <a:gridCol w="1188720"/>
                <a:gridCol w="283464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Stage</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Level</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Games / iteration</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Simulations / move</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Epochs</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Candidates trained</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Intermediate</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400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35</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Iterations 3–4</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Difficult</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600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Iterations 5–6</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Expert</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850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Iterations 7–8</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Super expert</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Iterations 9–10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bl>
          </a:graphicData>
        </a:graphic>
      </p:graphicFrame>
      <p:sp>
        <p:nvSpPr>
          <p:cNvPr id="4" name="Text 1"/>
          <p:cNvSpPr txBox="1"/>
          <p:nvPr/>
        </p:nvSpPr>
        <p:spPr>
          <a:xfrm>
            <a:off x="548640" y="434340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Each stage plays more games with a deeper search, so training targets get stronger as the network improves.</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Stage 1 (easy, 20 simulations) scripts exist; the candidates reported here start at stage 2.</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Iterations 0–2 were trained before the bug fixes and are not part of these results.</a:t>
            </a:r>
            <a:endParaRPr lang="en-US" sz="16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Results: three candidates promoted</a:t>
            </a:r>
            <a:endParaRPr lang="en-US" sz="3200" dirty="0"/>
          </a:p>
        </p:txBody>
      </p:sp>
      <p:graphicFrame>
        <p:nvGraphicFramePr>
          <p:cNvPr id="3" name="Chart 0" descr=""/>
          <p:cNvGraphicFramePr/>
          <p:nvPr/>
        </p:nvGraphicFramePr>
        <p:xfrm>
          <a:off x="548640" y="1371600"/>
          <a:ext cx="713232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955280" y="1463040"/>
            <a:ext cx="3657600" cy="2194560"/>
          </a:xfrm>
          <a:prstGeom prst="rect">
            <a:avLst/>
          </a:prstGeom>
          <a:solidFill>
            <a:srgbClr val="EEF2F7"/>
          </a:solidFill>
          <a:ln w="12700">
            <a:solidFill>
              <a:srgbClr val="EEF2F7"/>
            </a:solidFill>
            <a:prstDash val="solid"/>
          </a:ln>
        </p:spPr>
      </p:sp>
      <p:sp>
        <p:nvSpPr>
          <p:cNvPr id="5" name="Text 2"/>
          <p:cNvSpPr txBox="1"/>
          <p:nvPr/>
        </p:nvSpPr>
        <p:spPr>
          <a:xfrm>
            <a:off x="8183880" y="1645920"/>
            <a:ext cx="3200400" cy="457200"/>
          </a:xfrm>
          <a:prstGeom prst="rect">
            <a:avLst/>
          </a:prstGeom>
          <a:noFill/>
          <a:ln/>
        </p:spPr>
        <p:txBody>
          <a:bodyPr wrap="square" lIns="0" tIns="0" rIns="0" bIns="0" rtlCol="0" anchor="t"/>
          <a:lstStyle/>
          <a:p>
            <a:pPr indent="0" marL="0">
              <a:buNone/>
            </a:pPr>
            <a:r>
              <a:rPr lang="en-US" sz="1800" b="1" dirty="0">
                <a:solidFill>
                  <a:srgbClr val="2E7D6B"/>
                </a:solidFill>
                <a:latin typeface="Cambria" pitchFamily="34" charset="0"/>
                <a:ea typeface="Cambria" pitchFamily="34" charset="-122"/>
                <a:cs typeface="Cambria" pitchFamily="34" charset="-120"/>
              </a:rPr>
              <a:t>Promoted</a:t>
            </a:r>
            <a:endParaRPr lang="en-US" sz="1800" dirty="0"/>
          </a:p>
        </p:txBody>
      </p:sp>
      <p:sp>
        <p:nvSpPr>
          <p:cNvPr id="6" name="Text 3"/>
          <p:cNvSpPr txBox="1"/>
          <p:nvPr/>
        </p:nvSpPr>
        <p:spPr>
          <a:xfrm>
            <a:off x="8183880" y="2194560"/>
            <a:ext cx="3200400" cy="128016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Iteration 4 (70%)</a:t>
            </a:r>
            <a:endParaRPr lang="en-US" sz="1500" dirty="0"/>
          </a:p>
          <a:p>
            <a:pPr indent="0" marL="0">
              <a:buNone/>
            </a:pPr>
            <a:r>
              <a:rPr lang="en-US" sz="1500" dirty="0">
                <a:solidFill>
                  <a:srgbClr val="1B1F24"/>
                </a:solidFill>
                <a:latin typeface="Calibri" pitchFamily="34" charset="0"/>
                <a:ea typeface="Calibri" pitchFamily="34" charset="-122"/>
                <a:cs typeface="Calibri" pitchFamily="34" charset="-120"/>
              </a:rPr>
              <a:t>Iteration 7 (55%)</a:t>
            </a:r>
            <a:endParaRPr lang="en-US" sz="1500" dirty="0"/>
          </a:p>
          <a:p>
            <a:pPr indent="0" marL="0">
              <a:buNone/>
            </a:pPr>
            <a:r>
              <a:rPr lang="en-US" sz="1500" dirty="0">
                <a:solidFill>
                  <a:srgbClr val="1B1F24"/>
                </a:solidFill>
                <a:latin typeface="Calibri" pitchFamily="34" charset="0"/>
                <a:ea typeface="Calibri" pitchFamily="34" charset="-122"/>
                <a:cs typeface="Calibri" pitchFamily="34" charset="-120"/>
              </a:rPr>
              <a:t>Iteration 9 (72.5%), the final best model</a:t>
            </a:r>
            <a:endParaRPr lang="en-US" sz="1500" dirty="0"/>
          </a:p>
        </p:txBody>
      </p:sp>
      <p:sp>
        <p:nvSpPr>
          <p:cNvPr id="7" name="Shape 4"/>
          <p:cNvSpPr/>
          <p:nvPr/>
        </p:nvSpPr>
        <p:spPr>
          <a:xfrm>
            <a:off x="7955280" y="3840480"/>
            <a:ext cx="3657600" cy="2194560"/>
          </a:xfrm>
          <a:prstGeom prst="rect">
            <a:avLst/>
          </a:prstGeom>
          <a:solidFill>
            <a:srgbClr val="EEF2F7"/>
          </a:solidFill>
          <a:ln w="12700">
            <a:solidFill>
              <a:srgbClr val="EEF2F7"/>
            </a:solidFill>
            <a:prstDash val="solid"/>
          </a:ln>
        </p:spPr>
      </p:sp>
      <p:sp>
        <p:nvSpPr>
          <p:cNvPr id="8" name="Text 5"/>
          <p:cNvSpPr txBox="1"/>
          <p:nvPr/>
        </p:nvSpPr>
        <p:spPr>
          <a:xfrm>
            <a:off x="8183880" y="4023360"/>
            <a:ext cx="3200400" cy="457200"/>
          </a:xfrm>
          <a:prstGeom prst="rect">
            <a:avLst/>
          </a:prstGeom>
          <a:noFill/>
          <a:ln/>
        </p:spPr>
        <p:txBody>
          <a:bodyPr wrap="square" lIns="0" tIns="0" rIns="0" bIns="0" rtlCol="0" anchor="t"/>
          <a:lstStyle/>
          <a:p>
            <a:pPr indent="0" marL="0">
              <a:buNone/>
            </a:pPr>
            <a:r>
              <a:rPr lang="en-US" sz="1800" b="1" dirty="0">
                <a:solidFill>
                  <a:srgbClr val="B5443A"/>
                </a:solidFill>
                <a:latin typeface="Cambria" pitchFamily="34" charset="0"/>
                <a:ea typeface="Cambria" pitchFamily="34" charset="-122"/>
                <a:cs typeface="Cambria" pitchFamily="34" charset="-120"/>
              </a:rPr>
              <a:t>Rejected</a:t>
            </a:r>
            <a:endParaRPr lang="en-US" sz="1800" dirty="0"/>
          </a:p>
        </p:txBody>
      </p:sp>
      <p:sp>
        <p:nvSpPr>
          <p:cNvPr id="9" name="Text 6"/>
          <p:cNvSpPr txBox="1"/>
          <p:nvPr/>
        </p:nvSpPr>
        <p:spPr>
          <a:xfrm>
            <a:off x="8183880" y="4572000"/>
            <a:ext cx="3200400" cy="1280160"/>
          </a:xfrm>
          <a:prstGeom prst="rect">
            <a:avLst/>
          </a:prstGeom>
          <a:noFill/>
          <a:ln/>
        </p:spPr>
        <p:txBody>
          <a:bodyPr wrap="square" lIns="0" tIns="0" rIns="0" bIns="0" rtlCol="0" anchor="t"/>
          <a:lstStyle/>
          <a:p>
            <a:pPr indent="0" marL="0">
              <a:buNone/>
            </a:pPr>
            <a:r>
              <a:rPr lang="en-US" sz="1500" dirty="0">
                <a:solidFill>
                  <a:srgbClr val="1B1F24"/>
                </a:solidFill>
                <a:latin typeface="Calibri" pitchFamily="34" charset="0"/>
                <a:ea typeface="Calibri" pitchFamily="34" charset="-122"/>
                <a:cs typeface="Calibri" pitchFamily="34" charset="-120"/>
              </a:rPr>
              <a:t>Iterations 3, 5, 6, 8 and 10. Most scored 45–52.5%, close to equal strength with the model they played.</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Training loss fell across the curriculum</a:t>
            </a:r>
            <a:endParaRPr lang="en-US" sz="3200" dirty="0"/>
          </a:p>
        </p:txBody>
      </p:sp>
      <p:graphicFrame>
        <p:nvGraphicFramePr>
          <p:cNvPr id="3" name="Chart 0" descr=""/>
          <p:cNvGraphicFramePr/>
          <p:nvPr/>
        </p:nvGraphicFramePr>
        <p:xfrm>
          <a:off x="548640" y="137160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38160" y="1463040"/>
            <a:ext cx="3474720" cy="4572000"/>
          </a:xfrm>
          <a:prstGeom prst="rect">
            <a:avLst/>
          </a:prstGeom>
          <a:solidFill>
            <a:srgbClr val="EEF2F7"/>
          </a:solidFill>
          <a:ln w="12700">
            <a:solidFill>
              <a:srgbClr val="EEF2F7"/>
            </a:solidFill>
            <a:prstDash val="solid"/>
          </a:ln>
        </p:spPr>
      </p:sp>
      <p:sp>
        <p:nvSpPr>
          <p:cNvPr id="5" name="Text 2"/>
          <p:cNvSpPr txBox="1"/>
          <p:nvPr/>
        </p:nvSpPr>
        <p:spPr>
          <a:xfrm>
            <a:off x="8366760" y="1645920"/>
            <a:ext cx="301752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Reading the curve</a:t>
            </a:r>
            <a:endParaRPr lang="en-US" sz="1800" dirty="0"/>
          </a:p>
        </p:txBody>
      </p:sp>
      <p:sp>
        <p:nvSpPr>
          <p:cNvPr id="6" name="Text 3"/>
          <p:cNvSpPr txBox="1"/>
          <p:nvPr/>
        </p:nvSpPr>
        <p:spPr>
          <a:xfrm>
            <a:off x="8366760" y="2194560"/>
            <a:ext cx="30175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Policy loss dominates: it fell from 4.78 to about 3.25.</a:t>
            </a:r>
            <a:endParaRPr lang="en-US" sz="1500" dirty="0"/>
          </a:p>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A uniform guess over 145 moves would score about 4.98.</a:t>
            </a:r>
            <a:endParaRPr lang="en-US" sz="1500" dirty="0"/>
          </a:p>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Value loss settled near 0.03.</a:t>
            </a:r>
            <a:endParaRPr lang="en-US" sz="1500" dirty="0"/>
          </a:p>
          <a:p>
            <a:pPr marL="342900" indent="-342900">
              <a:spcAft>
                <a:spcPts val="800"/>
              </a:spcAft>
              <a:buSzPct val="100000"/>
              <a:buChar char="•"/>
            </a:pPr>
            <a:r>
              <a:rPr lang="en-US" sz="1500" dirty="0">
                <a:solidFill>
                  <a:srgbClr val="1B1F24"/>
                </a:solidFill>
                <a:latin typeface="Calibri" pitchFamily="34" charset="0"/>
                <a:ea typeface="Calibri" pitchFamily="34" charset="-122"/>
                <a:cs typeface="Calibri" pitchFamily="34" charset="-120"/>
              </a:rPr>
              <a:t>The curve flattens from iteration 6, matching the near-50% evaluation results.</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Self-play volume per iteration</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63040"/>
                <a:gridCol w="1645920"/>
                <a:gridCol w="2560320"/>
                <a:gridCol w="2377440"/>
                <a:gridCol w="301752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Iteration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Games</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New positions</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Self-play time</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60,677</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32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Rejected (30%)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61,056</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33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Promoted (70%)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141,860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106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Rejected (45%)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139,666</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103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Rejected (50%)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850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190,630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227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Promoted (55%)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850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192,125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277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Rejected (52.5%)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223,865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400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Promoted (72.5%)</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457200">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222,656</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289 min</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Rejected (50%)</a:t>
                      </a:r>
                      <a:endParaRPr lang="en-US" sz="15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500" i="1" dirty="0">
                <a:solidFill>
                  <a:srgbClr val="5A6472"/>
                </a:solidFill>
                <a:latin typeface="Calibri" pitchFamily="34" charset="0"/>
                <a:ea typeface="Calibri" pitchFamily="34" charset="-122"/>
                <a:cs typeface="Calibri" pitchFamily="34" charset="-120"/>
              </a:rPr>
              <a:t>About 1.23 million self-play positions were generated across iterations 3–10.</a:t>
            </a:r>
            <a:endParaRPr lang="en-US" sz="15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Same code, different speed on Windows and Linux</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663440"/>
                <a:gridCol w="3200400"/>
                <a:gridCol w="3200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Windows (iteration 9)</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Linux (iteration 10)</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Average self-play batch (25 games)</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10.0 min</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7.1 min</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Training epoch</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≈136 s</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≈78 s</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Self-play workers</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18</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18</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502920">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GPU use during evaluation</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600" dirty="0">
                          <a:solidFill>
                            <a:srgbClr val="1B1F24"/>
                          </a:solidFill>
                          <a:latin typeface="Calibri" pitchFamily="34" charset="0"/>
                          <a:ea typeface="Calibri" pitchFamily="34" charset="-122"/>
                          <a:cs typeface="Calibri" pitchFamily="34" charset="-120"/>
                        </a:rPr>
                        <a:t>≈0% (CPU-bound)</a:t>
                      </a:r>
                      <a:endParaRPr lang="en-US" sz="1600" dirty="0">
                        <a:latin typeface="Calibri" charset="0"/>
                        <a:ea typeface="Calibri" charset="0"/>
                        <a:cs typeface="Calibri" charset="0"/>
                      </a:endParaRPr>
                    </a:p>
                  </a:txBody>
                  <a:tcPr marL="73152" marR="73152" marT="73152" marB="7315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bl>
          </a:graphicData>
        </a:graphic>
      </p:graphicFrame>
      <p:sp>
        <p:nvSpPr>
          <p:cNvPr id="4" name="Text 1"/>
          <p:cNvSpPr txBox="1"/>
          <p:nvPr/>
        </p:nvSpPr>
        <p:spPr>
          <a:xfrm>
            <a:off x="548640" y="4160520"/>
            <a:ext cx="1106424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Same hardware, same settings. Linux was about 30% faster in self-play and 1.75× faster in training.</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Likely causes: slower process spawning on Windows and OS-level overhead. This was not profiled.</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Evaluation games ran on the CPU; a GPU observer logged 0% utilisation throughout.</a:t>
            </a:r>
            <a:endParaRPr lang="en-US" sz="16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Bugs we found and fixed</a:t>
            </a:r>
            <a:endParaRPr lang="en-US" sz="3200" dirty="0"/>
          </a:p>
        </p:txBody>
      </p:sp>
      <p:sp>
        <p:nvSpPr>
          <p:cNvPr id="3" name="Shape 1"/>
          <p:cNvSpPr/>
          <p:nvPr/>
        </p:nvSpPr>
        <p:spPr>
          <a:xfrm>
            <a:off x="548640" y="1463040"/>
            <a:ext cx="3566160" cy="3291840"/>
          </a:xfrm>
          <a:prstGeom prst="rect">
            <a:avLst/>
          </a:prstGeom>
          <a:solidFill>
            <a:srgbClr val="EEF2F7"/>
          </a:solidFill>
          <a:ln w="12700">
            <a:solidFill>
              <a:srgbClr val="EEF2F7"/>
            </a:solidFill>
            <a:prstDash val="solid"/>
          </a:ln>
        </p:spPr>
      </p:sp>
      <p:sp>
        <p:nvSpPr>
          <p:cNvPr id="4" name="Text 2"/>
          <p:cNvSpPr txBox="1"/>
          <p:nvPr/>
        </p:nvSpPr>
        <p:spPr>
          <a:xfrm>
            <a:off x="77724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MCTS backup sign</a:t>
            </a:r>
            <a:endParaRPr lang="en-US" sz="1800" dirty="0"/>
          </a:p>
        </p:txBody>
      </p:sp>
      <p:sp>
        <p:nvSpPr>
          <p:cNvPr id="5" name="Text 3"/>
          <p:cNvSpPr txBox="1"/>
          <p:nvPr/>
        </p:nvSpPr>
        <p:spPr>
          <a:xfrm>
            <a:off x="777240" y="2194560"/>
            <a:ext cx="3108960" cy="237744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Nodes stored value from the opponent's view, so search picked the opponent's best move. A candidate lost 0–20; after the fix it scored 9–11.</a:t>
            </a:r>
            <a:endParaRPr lang="en-US" sz="1600" dirty="0"/>
          </a:p>
        </p:txBody>
      </p:sp>
      <p:sp>
        <p:nvSpPr>
          <p:cNvPr id="6" name="Shape 4"/>
          <p:cNvSpPr/>
          <p:nvPr/>
        </p:nvSpPr>
        <p:spPr>
          <a:xfrm>
            <a:off x="4297680" y="1463040"/>
            <a:ext cx="3566160" cy="3291840"/>
          </a:xfrm>
          <a:prstGeom prst="rect">
            <a:avLst/>
          </a:prstGeom>
          <a:solidFill>
            <a:srgbClr val="EEF2F7"/>
          </a:solidFill>
          <a:ln w="12700">
            <a:solidFill>
              <a:srgbClr val="EEF2F7"/>
            </a:solidFill>
            <a:prstDash val="solid"/>
          </a:ln>
        </p:spPr>
      </p:sp>
      <p:sp>
        <p:nvSpPr>
          <p:cNvPr id="7" name="Text 5"/>
          <p:cNvSpPr txBox="1"/>
          <p:nvPr/>
        </p:nvSpPr>
        <p:spPr>
          <a:xfrm>
            <a:off x="452628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Input mismatch</a:t>
            </a:r>
            <a:endParaRPr lang="en-US" sz="1800" dirty="0"/>
          </a:p>
        </p:txBody>
      </p:sp>
      <p:sp>
        <p:nvSpPr>
          <p:cNvPr id="8" name="Text 6"/>
          <p:cNvSpPr txBox="1"/>
          <p:nvPr/>
        </p:nvSpPr>
        <p:spPr>
          <a:xfrm>
            <a:off x="4526280" y="2194560"/>
            <a:ext cx="3108960" cy="237744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Training used an empty-points third plane, but search fed a constant black-to-move plane. Every model was trained on one input and played with another.</a:t>
            </a:r>
            <a:endParaRPr lang="en-US" sz="1600" dirty="0"/>
          </a:p>
        </p:txBody>
      </p:sp>
      <p:sp>
        <p:nvSpPr>
          <p:cNvPr id="9" name="Shape 7"/>
          <p:cNvSpPr/>
          <p:nvPr/>
        </p:nvSpPr>
        <p:spPr>
          <a:xfrm>
            <a:off x="8046720" y="1463040"/>
            <a:ext cx="3566160" cy="3291840"/>
          </a:xfrm>
          <a:prstGeom prst="rect">
            <a:avLst/>
          </a:prstGeom>
          <a:solidFill>
            <a:srgbClr val="EEF2F7"/>
          </a:solidFill>
          <a:ln w="12700">
            <a:solidFill>
              <a:srgbClr val="EEF2F7"/>
            </a:solidFill>
            <a:prstDash val="solid"/>
          </a:ln>
        </p:spPr>
      </p:sp>
      <p:sp>
        <p:nvSpPr>
          <p:cNvPr id="10" name="Text 8"/>
          <p:cNvSpPr txBox="1"/>
          <p:nvPr/>
        </p:nvSpPr>
        <p:spPr>
          <a:xfrm>
            <a:off x="8275320" y="1645920"/>
            <a:ext cx="310896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Smaller fixes</a:t>
            </a:r>
            <a:endParaRPr lang="en-US" sz="1800" dirty="0"/>
          </a:p>
        </p:txBody>
      </p:sp>
      <p:sp>
        <p:nvSpPr>
          <p:cNvPr id="11" name="Text 9"/>
          <p:cNvSpPr txBox="1"/>
          <p:nvPr/>
        </p:nvSpPr>
        <p:spPr>
          <a:xfrm>
            <a:off x="8275320" y="2194560"/>
            <a:ext cx="3108960" cy="2377440"/>
          </a:xfrm>
          <a:prstGeom prst="rect">
            <a:avLst/>
          </a:prstGeom>
          <a:noFill/>
          <a:ln/>
        </p:spPr>
        <p:txBody>
          <a:bodyPr wrap="square" lIns="0" tIns="0" rIns="0" bIns="0" rtlCol="0" anchor="t"/>
          <a:lstStyle/>
          <a:p>
            <a:pPr indent="0" marL="0">
              <a:buNone/>
            </a:pPr>
            <a:r>
              <a:rPr lang="en-US" sz="1600" dirty="0">
                <a:solidFill>
                  <a:srgbClr val="1B1F24"/>
                </a:solidFill>
                <a:latin typeface="Calibri" pitchFamily="34" charset="0"/>
                <a:ea typeface="Calibri" pitchFamily="34" charset="-122"/>
                <a:cs typeface="Calibri" pitchFamily="34" charset="-120"/>
              </a:rPr>
              <a:t>Double softmax in the policy loss; deterministic evaluation (20 games were 2 repeated games); silent fallback to random weights; missing Dirichlet noise.</a:t>
            </a:r>
            <a:endParaRPr lang="en-US" sz="1600" dirty="0"/>
          </a:p>
        </p:txBody>
      </p:sp>
      <p:sp>
        <p:nvSpPr>
          <p:cNvPr id="12" name="Text 10"/>
          <p:cNvSpPr txBox="1"/>
          <p:nvPr/>
        </p:nvSpPr>
        <p:spPr>
          <a:xfrm>
            <a:off x="548640" y="5029200"/>
            <a:ext cx="11064240" cy="914400"/>
          </a:xfrm>
          <a:prstGeom prst="rect">
            <a:avLst/>
          </a:prstGeom>
          <a:noFill/>
          <a:ln/>
        </p:spPr>
        <p:txBody>
          <a:bodyPr wrap="square" lIns="0" tIns="0" rIns="0" bIns="0" rtlCol="0" anchor="t"/>
          <a:lstStyle/>
          <a:p>
            <a:pPr indent="0" marL="0">
              <a:buNone/>
            </a:pPr>
            <a:r>
              <a:rPr lang="en-US" sz="1600" i="1" dirty="0">
                <a:solidFill>
                  <a:srgbClr val="5A6472"/>
                </a:solidFill>
                <a:latin typeface="Calibri" pitchFamily="34" charset="0"/>
                <a:ea typeface="Calibri" pitchFamily="34" charset="-122"/>
                <a:cs typeface="Calibri" pitchFamily="34" charset="-120"/>
              </a:rPr>
              <a:t>All self-play data generated before these fixes was archived and regenerated, and the MCTS fix is covered by a regression test that fails on the old code.</a:t>
            </a:r>
            <a:endParaRPr lang="en-US" sz="16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Reproducibility</a:t>
            </a:r>
            <a:endParaRPr lang="en-US" sz="3200" dirty="0"/>
          </a:p>
        </p:txBody>
      </p:sp>
      <p:sp>
        <p:nvSpPr>
          <p:cNvPr id="3" name="Shape 1"/>
          <p:cNvSpPr/>
          <p:nvPr/>
        </p:nvSpPr>
        <p:spPr>
          <a:xfrm>
            <a:off x="548640" y="1463040"/>
            <a:ext cx="5486400" cy="4572000"/>
          </a:xfrm>
          <a:prstGeom prst="rect">
            <a:avLst/>
          </a:prstGeom>
          <a:solidFill>
            <a:srgbClr val="EEF2F7"/>
          </a:solidFill>
          <a:ln w="12700">
            <a:solidFill>
              <a:srgbClr val="EEF2F7"/>
            </a:solidFill>
            <a:prstDash val="solid"/>
          </a:ln>
        </p:spPr>
      </p:sp>
      <p:sp>
        <p:nvSpPr>
          <p:cNvPr id="4" name="Text 2"/>
          <p:cNvSpPr txBox="1"/>
          <p:nvPr/>
        </p:nvSpPr>
        <p:spPr>
          <a:xfrm>
            <a:off x="777240" y="1645920"/>
            <a:ext cx="5029200" cy="45720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Repository</a:t>
            </a:r>
            <a:endParaRPr lang="en-US" sz="1800" dirty="0"/>
          </a:p>
        </p:txBody>
      </p:sp>
      <p:sp>
        <p:nvSpPr>
          <p:cNvPr id="5" name="Text 3"/>
          <p:cNvSpPr txBox="1"/>
          <p:nvPr/>
        </p:nvSpPr>
        <p:spPr>
          <a:xfrm>
            <a:off x="777240" y="2194560"/>
            <a:ext cx="502920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github.com/chandrakanth-source/ALPHAGo-Zero</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Branch: shafreed</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Models stored with Git LFS (models/*.pt)</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Full results: Final_Training_Report.md</a:t>
            </a:r>
            <a:endParaRPr lang="en-US" sz="1600" dirty="0"/>
          </a:p>
          <a:p>
            <a:pPr marL="342900" indent="-342900">
              <a:spcAft>
                <a:spcPts val="800"/>
              </a:spcAft>
              <a:buSzPct val="100000"/>
              <a:buChar char="•"/>
            </a:pPr>
            <a:r>
              <a:rPr lang="en-US" sz="1600" dirty="0">
                <a:solidFill>
                  <a:srgbClr val="1B1F24"/>
                </a:solidFill>
                <a:latin typeface="Calibri" pitchFamily="34" charset="0"/>
                <a:ea typeface="Calibri" pitchFamily="34" charset="-122"/>
                <a:cs typeface="Calibri" pitchFamily="34" charset="-120"/>
              </a:rPr>
              <a:t>Python 3.14, PyTorch 2.11, CUDA 12.8</a:t>
            </a:r>
            <a:endParaRPr lang="en-US" sz="1600" dirty="0"/>
          </a:p>
        </p:txBody>
      </p:sp>
      <p:sp>
        <p:nvSpPr>
          <p:cNvPr id="6" name="Shape 4"/>
          <p:cNvSpPr/>
          <p:nvPr/>
        </p:nvSpPr>
        <p:spPr>
          <a:xfrm>
            <a:off x="6309360" y="1463040"/>
            <a:ext cx="5303520" cy="4572000"/>
          </a:xfrm>
          <a:prstGeom prst="rect">
            <a:avLst/>
          </a:prstGeom>
          <a:solidFill>
            <a:srgbClr val="1B1F24"/>
          </a:solidFill>
          <a:ln w="12700">
            <a:solidFill>
              <a:srgbClr val="1B1F24"/>
            </a:solidFill>
            <a:prstDash val="solid"/>
          </a:ln>
        </p:spPr>
      </p:sp>
      <p:sp>
        <p:nvSpPr>
          <p:cNvPr id="7" name="Text 5"/>
          <p:cNvSpPr txBox="1"/>
          <p:nvPr/>
        </p:nvSpPr>
        <p:spPr>
          <a:xfrm>
            <a:off x="6537960" y="1645920"/>
            <a:ext cx="4846320" cy="457200"/>
          </a:xfrm>
          <a:prstGeom prst="rect">
            <a:avLst/>
          </a:prstGeom>
          <a:noFill/>
          <a:ln/>
        </p:spPr>
        <p:txBody>
          <a:bodyPr wrap="square" lIns="0" tIns="0" rIns="0" bIns="0" rtlCol="0" anchor="t"/>
          <a:lstStyle/>
          <a:p>
            <a:pPr indent="0" marL="0">
              <a:buNone/>
            </a:pPr>
            <a:r>
              <a:rPr lang="en-US" sz="1800" b="1" dirty="0">
                <a:solidFill>
                  <a:srgbClr val="C8862A"/>
                </a:solidFill>
                <a:latin typeface="Cambria" pitchFamily="34" charset="0"/>
                <a:ea typeface="Cambria" pitchFamily="34" charset="-122"/>
                <a:cs typeface="Cambria" pitchFamily="34" charset="-120"/>
              </a:rPr>
              <a:t>Run it</a:t>
            </a:r>
            <a:endParaRPr lang="en-US" sz="1800" dirty="0"/>
          </a:p>
        </p:txBody>
      </p:sp>
      <p:sp>
        <p:nvSpPr>
          <p:cNvPr id="8" name="Text 6"/>
          <p:cNvSpPr txBox="1"/>
          <p:nvPr/>
        </p:nvSpPr>
        <p:spPr>
          <a:xfrm>
            <a:off x="6537960" y="2240280"/>
            <a:ext cx="4846320" cy="2011680"/>
          </a:xfrm>
          <a:prstGeom prst="rect">
            <a:avLst/>
          </a:prstGeom>
          <a:noFill/>
          <a:ln/>
        </p:spPr>
        <p:txBody>
          <a:bodyPr wrap="square" lIns="0" tIns="0" rIns="0" bIns="0" rtlCol="0" anchor="t"/>
          <a:lstStyle/>
          <a:p>
            <a:pPr indent="0" marL="0">
              <a:spcAft>
                <a:spcPts val="1000"/>
              </a:spcAft>
              <a:buNone/>
            </a:pPr>
            <a:r>
              <a:rPr lang="en-US" sz="1600" dirty="0">
                <a:solidFill>
                  <a:srgbClr val="FFFFFF"/>
                </a:solidFill>
                <a:latin typeface="Courier New" pitchFamily="34" charset="0"/>
                <a:ea typeface="Courier New" pitchFamily="34" charset="-122"/>
                <a:cs typeface="Courier New" pitchFamily="34" charset="-120"/>
              </a:rPr>
              <a:t>git lfs pull</a:t>
            </a:r>
            <a:endParaRPr lang="en-US" sz="1600" dirty="0"/>
          </a:p>
          <a:p>
            <a:pPr indent="0" marL="0">
              <a:spcAft>
                <a:spcPts val="1000"/>
              </a:spcAft>
              <a:buNone/>
            </a:pPr>
            <a:r>
              <a:rPr lang="en-US" sz="1600" dirty="0">
                <a:solidFill>
                  <a:srgbClr val="FFFFFF"/>
                </a:solidFill>
                <a:latin typeface="Courier New" pitchFamily="34" charset="0"/>
                <a:ea typeface="Courier New" pitchFamily="34" charset="-122"/>
                <a:cs typeface="Courier New" pitchFamily="34" charset="-120"/>
              </a:rPr>
              <a:t>pip install -r requirements.txt</a:t>
            </a:r>
            <a:endParaRPr lang="en-US" sz="1600" dirty="0"/>
          </a:p>
          <a:p>
            <a:pPr indent="0" marL="0">
              <a:spcAft>
                <a:spcPts val="1000"/>
              </a:spcAft>
              <a:buNone/>
            </a:pPr>
            <a:r>
              <a:rPr lang="en-US" sz="1600" dirty="0">
                <a:solidFill>
                  <a:srgbClr val="FFFFFF"/>
                </a:solidFill>
                <a:latin typeface="Courier New" pitchFamily="34" charset="0"/>
                <a:ea typeface="Courier New" pitchFamily="34" charset="-122"/>
                <a:cs typeface="Courier New" pitchFamily="34" charset="-120"/>
              </a:rPr>
              <a:t>python train_batched.py --stage 5</a:t>
            </a:r>
            <a:endParaRPr lang="en-US" sz="1600" dirty="0"/>
          </a:p>
          <a:p>
            <a:pPr indent="0" marL="0">
              <a:spcAft>
                <a:spcPts val="1000"/>
              </a:spcAft>
              <a:buNone/>
            </a:pPr>
            <a:r>
              <a:rPr lang="en-US" sz="1600" dirty="0">
                <a:solidFill>
                  <a:srgbClr val="FFFFFF"/>
                </a:solidFill>
                <a:latin typeface="Courier New" pitchFamily="34" charset="0"/>
                <a:ea typeface="Courier New" pitchFamily="34" charset="-122"/>
                <a:cs typeface="Courier New" pitchFamily="34" charset="-120"/>
              </a:rPr>
              <a:t>pytest</a:t>
            </a:r>
            <a:endParaRPr lang="en-US" sz="1600" dirty="0"/>
          </a:p>
        </p:txBody>
      </p:sp>
      <p:sp>
        <p:nvSpPr>
          <p:cNvPr id="9" name="Text 7"/>
          <p:cNvSpPr txBox="1"/>
          <p:nvPr/>
        </p:nvSpPr>
        <p:spPr>
          <a:xfrm>
            <a:off x="6537960" y="4480560"/>
            <a:ext cx="4846320" cy="1280160"/>
          </a:xfrm>
          <a:prstGeom prst="rect">
            <a:avLst/>
          </a:prstGeom>
          <a:noFill/>
          <a:ln/>
        </p:spPr>
        <p:txBody>
          <a:bodyPr wrap="square" lIns="0" tIns="0" rIns="0" bIns="0" rtlCol="0" anchor="t"/>
          <a:lstStyle/>
          <a:p>
            <a:pPr indent="0" marL="0">
              <a:buNone/>
            </a:pPr>
            <a:r>
              <a:rPr lang="en-US" sz="1400" dirty="0">
                <a:solidFill>
                  <a:srgbClr val="D6DEEA"/>
                </a:solidFill>
                <a:latin typeface="Calibri" pitchFamily="34" charset="0"/>
                <a:ea typeface="Calibri" pitchFamily="34" charset="-122"/>
                <a:cs typeface="Calibri" pitchFamily="34" charset="-120"/>
              </a:rPr>
              <a:t>Training resumes from saved batches, so a stopped run can be restarted with the same command.</a:t>
            </a:r>
            <a:endParaRPr lang="en-US" sz="14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F3A5F"/>
                </a:solidFill>
                <a:latin typeface="Cambria" pitchFamily="34" charset="0"/>
                <a:ea typeface="Cambria" pitchFamily="34" charset="-122"/>
                <a:cs typeface="Cambria" pitchFamily="34" charset="-120"/>
              </a:rPr>
              <a:t>References</a:t>
            </a:r>
            <a:endParaRPr lang="en-US" sz="3200" dirty="0"/>
          </a:p>
        </p:txBody>
      </p:sp>
      <p:sp>
        <p:nvSpPr>
          <p:cNvPr id="3" name="Text 1"/>
          <p:cNvSpPr txBox="1"/>
          <p:nvPr/>
        </p:nvSpPr>
        <p:spPr>
          <a:xfrm>
            <a:off x="548640" y="1463040"/>
            <a:ext cx="11064240" cy="4663440"/>
          </a:xfrm>
          <a:prstGeom prst="rect">
            <a:avLst/>
          </a:prstGeom>
          <a:noFill/>
          <a:ln/>
        </p:spPr>
        <p:txBody>
          <a:bodyPr wrap="square" lIns="0" tIns="0" rIns="0" bIns="0" rtlCol="0" anchor="t"/>
          <a:lstStyle/>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[1]  D. Silver et al., “Mastering the game of Go without human knowledge,” Nature, vol. 550, pp. 354–359, 2017.</a:t>
            </a:r>
            <a:endParaRPr lang="en-US" sz="1700" dirty="0"/>
          </a:p>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[2]  D. Silver et al., “Mastering the game of Go with deep neural networks and tree search,” Nature, vol. 529, pp. 484–489, 2016.</a:t>
            </a:r>
            <a:endParaRPr lang="en-US" sz="1700" dirty="0"/>
          </a:p>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[3]  D. Silver et al., “A general reinforcement learning algorithm that masters chess, shogi, and Go through self-play,” Science, vol. 362, no. 6419, pp. 1140–1144, 2018.</a:t>
            </a:r>
            <a:endParaRPr lang="en-US" sz="1700" dirty="0"/>
          </a:p>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[4]  K. He, X. Zhang, S. Ren and J. Sun, “Deep residual learning for image recognition,” in Proc. IEEE CVPR, 2016, pp. 770–778.</a:t>
            </a:r>
            <a:endParaRPr lang="en-US" sz="1700" dirty="0"/>
          </a:p>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[5]  L. Kocsis and C. Szepesvári, “Bandit based Monte-Carlo planning,” in Proc. ECML, LNCS 4212, 2006, pp. 282–293.</a:t>
            </a:r>
            <a:endParaRPr lang="en-US" sz="1700" dirty="0"/>
          </a:p>
          <a:p>
            <a:pPr indent="0" marL="0">
              <a:spcAft>
                <a:spcPts val="1200"/>
              </a:spcAft>
              <a:buNone/>
            </a:pPr>
            <a:r>
              <a:rPr lang="en-US" sz="1700" dirty="0">
                <a:solidFill>
                  <a:srgbClr val="1B1F24"/>
                </a:solidFill>
                <a:latin typeface="Calibri" pitchFamily="34" charset="0"/>
                <a:ea typeface="Calibri" pitchFamily="34" charset="-122"/>
                <a:cs typeface="Calibri" pitchFamily="34" charset="-120"/>
              </a:rPr>
              <a:t>[6]  R. Coulom, “Efficient selectivity and backup operators in Monte-Carlo tree search,” in Proc. Computers and Games, LNCS 4630, 2006, pp. 72–83.</a:t>
            </a:r>
            <a:endParaRPr lang="en-US" sz="1700" dirty="0"/>
          </a:p>
        </p:txBody>
      </p:sp>
      <p:sp>
        <p:nvSpPr>
          <p:cNvPr id="25" name="Slide Number Placeholder 0"/>
          <p:cNvSpPr>
            <a:spLocks noGrp="1"/>
          </p:cNvSpPr>
          <p:nvPr>
            <p:ph type="sldNum" sz="quarter" idx="4294967295"/>
          </p:nvPr>
        </p:nvSpPr>
        <p:spPr>
          <a:xfrm>
            <a:off x="112014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2"/>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64592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Conclusion and future work</a:t>
            </a:r>
            <a:endParaRPr lang="en-US" sz="4400" dirty="0"/>
          </a:p>
        </p:txBody>
      </p:sp>
      <p:sp>
        <p:nvSpPr>
          <p:cNvPr id="3" name="Text 1"/>
          <p:cNvSpPr txBox="1"/>
          <p:nvPr/>
        </p:nvSpPr>
        <p:spPr>
          <a:xfrm>
            <a:off x="731520" y="3291840"/>
            <a:ext cx="10698480" cy="27432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We implemented the full AlphaGo Zero loop: Go rules, a dual-head ResNet, PUCT MCTS, self-play, training and arena evaluation.</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Ten iterations, three promotions; iteration 9 is the best model, winning 72.5% against iteration 7.</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Next: longer evaluations or an Elo ladder, a fixed external baseline, larger networks and boards, and live self-play in the web app.</a:t>
            </a:r>
            <a:endParaRPr lang="en-US" sz="1800" dirty="0"/>
          </a:p>
        </p:txBody>
      </p:sp>
    </p:spTree>
  </p:cSld>
  <p:clrMapOvr>
    <a:masterClrMapping/>
  </p:clrMapOvr>
</p:sld>
</file>

<file path=ppt/theme/theme1.xml><?xml version="1.0" encoding="utf-8"?>
<a:theme xmlns:a="http://schemas.openxmlformats.org/drawingml/2006/main" name="AlphaGo Zero">
  <a:themeElements>
    <a:clrScheme name="AlphaGo Zero">
      <a:dk1>
        <a:srgbClr val="1B1F24"/>
      </a:dk1>
      <a:lt1>
        <a:srgbClr val="FFFFFF"/>
      </a:lt1>
      <a:dk2>
        <a:srgbClr val="1F3A5F"/>
      </a:dk2>
      <a:lt2>
        <a:srgbClr val="EEF2F7"/>
      </a:lt2>
      <a:accent1>
        <a:srgbClr val="1F3A5F"/>
      </a:accent1>
      <a:accent2>
        <a:srgbClr val="C8862A"/>
      </a:accent2>
      <a:accent3>
        <a:srgbClr val="2E7D6B"/>
      </a:accent3>
      <a:accent4>
        <a:srgbClr val="B5443A"/>
      </a:accent4>
      <a:accent5>
        <a:srgbClr val="4A6FA5"/>
      </a:accent5>
      <a:accent6>
        <a:srgbClr val="5A6472"/>
      </a:accent6>
      <a:hlink>
        <a:srgbClr val="1F3A5F"/>
      </a:hlink>
      <a:folHlink>
        <a:srgbClr val="5A6472"/>
      </a:folHlink>
    </a:clrScheme>
    <a:fontScheme name="AlphaGo Ze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AlphaGo Zero: Mastering Go Through Self-Play</dc:title>
  <dc:subject>Research paper review and implementation</dc:subject>
  <dc:creator>PptxGenJS</dc:creator>
  <cp:lastModifiedBy>PptxGenJS</cp:lastModifiedBy>
  <cp:revision>1</cp:revision>
  <dcterms:created xsi:type="dcterms:W3CDTF">2026-10-22T13:36:11Z</dcterms:created>
  <dcterms:modified xsi:type="dcterms:W3CDTF">2026-10-22T13:36:11Z</dcterms:modified>
</cp:coreProperties>
</file>